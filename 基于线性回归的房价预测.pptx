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5" r:id="rId3"/>
    <p:sldId id="276" r:id="rId5"/>
    <p:sldId id="256" r:id="rId6"/>
    <p:sldId id="277" r:id="rId7"/>
    <p:sldId id="281" r:id="rId8"/>
    <p:sldId id="279" r:id="rId9"/>
    <p:sldId id="280" r:id="rId10"/>
    <p:sldId id="282" r:id="rId11"/>
    <p:sldId id="278" r:id="rId12"/>
    <p:sldId id="258" r:id="rId13"/>
    <p:sldId id="283" r:id="rId14"/>
    <p:sldId id="284" r:id="rId15"/>
    <p:sldId id="285" r:id="rId16"/>
    <p:sldId id="286" r:id="rId17"/>
    <p:sldId id="287" r:id="rId18"/>
    <p:sldId id="289" r:id="rId19"/>
    <p:sldId id="334" r:id="rId20"/>
    <p:sldId id="338" r:id="rId21"/>
    <p:sldId id="339" r:id="rId22"/>
    <p:sldId id="340" r:id="rId23"/>
    <p:sldId id="341" r:id="rId24"/>
    <p:sldId id="343" r:id="rId25"/>
    <p:sldId id="290" r:id="rId26"/>
    <p:sldId id="259" r:id="rId27"/>
    <p:sldId id="293" r:id="rId28"/>
    <p:sldId id="326" r:id="rId29"/>
    <p:sldId id="327" r:id="rId30"/>
    <p:sldId id="294" r:id="rId31"/>
    <p:sldId id="295" r:id="rId32"/>
    <p:sldId id="296" r:id="rId33"/>
    <p:sldId id="325" r:id="rId34"/>
    <p:sldId id="297" r:id="rId35"/>
    <p:sldId id="305" r:id="rId36"/>
    <p:sldId id="298" r:id="rId37"/>
    <p:sldId id="306" r:id="rId38"/>
    <p:sldId id="328" r:id="rId39"/>
    <p:sldId id="307" r:id="rId40"/>
    <p:sldId id="308" r:id="rId41"/>
    <p:sldId id="310" r:id="rId42"/>
    <p:sldId id="309" r:id="rId43"/>
    <p:sldId id="311" r:id="rId44"/>
    <p:sldId id="312" r:id="rId45"/>
    <p:sldId id="313" r:id="rId46"/>
    <p:sldId id="332" r:id="rId47"/>
    <p:sldId id="329" r:id="rId48"/>
    <p:sldId id="324" r:id="rId49"/>
    <p:sldId id="314" r:id="rId50"/>
    <p:sldId id="315" r:id="rId51"/>
    <p:sldId id="316" r:id="rId52"/>
    <p:sldId id="317" r:id="rId53"/>
    <p:sldId id="318" r:id="rId54"/>
    <p:sldId id="319" r:id="rId55"/>
    <p:sldId id="261" r:id="rId56"/>
    <p:sldId id="320" r:id="rId57"/>
    <p:sldId id="321" r:id="rId58"/>
    <p:sldId id="345" r:id="rId59"/>
    <p:sldId id="346" r:id="rId60"/>
    <p:sldId id="323" r:id="rId61"/>
  </p:sldIdLst>
  <p:sldSz cx="12192000" cy="6858000"/>
  <p:notesSz cx="6858000" cy="9144000"/>
  <p:custDataLst>
    <p:tags r:id="rId65"/>
  </p:custDataLst>
  <p:defaultTextStyle>
    <a:defPPr>
      <a:defRPr lang="zh-CN"/>
    </a:defPPr>
    <a:lvl1pPr marL="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Calibri" panose="020F0502020204030204" pitchFamily="34" charset="0"/>
        <a:ea typeface="宋体" panose="02010600030101010101" pitchFamily="2" charset="-122"/>
      </a:defRPr>
    </a:lvl1pPr>
    <a:lvl2pPr marL="4572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Calibri" panose="020F0502020204030204" pitchFamily="34" charset="0"/>
        <a:ea typeface="宋体" panose="02010600030101010101" pitchFamily="2" charset="-122"/>
      </a:defRPr>
    </a:lvl2pPr>
    <a:lvl3pPr marL="9144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Calibri" panose="020F0502020204030204" pitchFamily="34" charset="0"/>
        <a:ea typeface="宋体" panose="02010600030101010101" pitchFamily="2" charset="-122"/>
      </a:defRPr>
    </a:lvl3pPr>
    <a:lvl4pPr marL="13716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Calibri" panose="020F0502020204030204" pitchFamily="34" charset="0"/>
        <a:ea typeface="宋体" panose="02010600030101010101" pitchFamily="2" charset="-122"/>
      </a:defRPr>
    </a:lvl4pPr>
    <a:lvl5pPr marL="18288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Calibri" panose="020F0502020204030204" pitchFamily="34" charset="0"/>
        <a:ea typeface="宋体" panose="02010600030101010101" pitchFamily="2" charset="-122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19" autoAdjust="0"/>
    <p:restoredTop sz="94660"/>
  </p:normalViewPr>
  <p:slideViewPr>
    <p:cSldViewPr>
      <p:cViewPr varScale="1">
        <p:scale>
          <a:sx n="72" d="100"/>
          <a:sy n="72" d="100"/>
        </p:scale>
        <p:origin x="798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5" Type="http://schemas.openxmlformats.org/officeDocument/2006/relationships/tags" Target="tags/tag1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866F59-4855-4E8D-A4F9-B74440BA8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7FC41-6C48-48E0-AF14-B9318358140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6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8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10</a:t>
            </a:r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18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fld id="{D889B720-B504-48D5-8D4D-415B82E3B068}" type="datetime1">
              <a:rPr lang="zh-CN" altLang="en-US" sz="1200">
                <a:solidFill>
                  <a:srgbClr val="898989"/>
                </a:solidFill>
              </a:rPr>
            </a:fld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/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898989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/>
            <a:fld id="{057B0419-BA19-4405-B337-177AFEC38193}" type="slidenum">
              <a:rPr lang="zh-CN" altLang="en-US" sz="1200">
                <a:solidFill>
                  <a:srgbClr val="898989"/>
                </a:solidFill>
              </a:rPr>
            </a:fld>
            <a:endParaRPr lang="zh-C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fld id="{D889B720-B504-48D5-8D4D-415B82E3B068}" type="datetime1">
              <a:rPr lang="zh-CN" altLang="en-US" sz="1200">
                <a:solidFill>
                  <a:srgbClr val="898989"/>
                </a:solidFill>
              </a:rPr>
            </a:fld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/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898989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/>
            <a:fld id="{057B0419-BA19-4405-B337-177AFEC38193}" type="slidenum">
              <a:rPr lang="zh-CN" altLang="en-US" sz="1200">
                <a:solidFill>
                  <a:srgbClr val="898989"/>
                </a:solidFill>
              </a:rPr>
            </a:fld>
            <a:endParaRPr lang="zh-C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fld id="{D889B720-B504-48D5-8D4D-415B82E3B068}" type="datetime1">
              <a:rPr lang="zh-CN" altLang="en-US" sz="1200">
                <a:solidFill>
                  <a:srgbClr val="898989"/>
                </a:solidFill>
              </a:rPr>
            </a:fld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/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898989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/>
            <a:fld id="{057B0419-BA19-4405-B337-177AFEC38193}" type="slidenum">
              <a:rPr lang="zh-CN" altLang="en-US" sz="1200">
                <a:solidFill>
                  <a:srgbClr val="898989"/>
                </a:solidFill>
              </a:rPr>
            </a:fld>
            <a:endParaRPr lang="zh-C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fld id="{D889B720-B504-48D5-8D4D-415B82E3B068}" type="datetime1">
              <a:rPr lang="zh-CN" altLang="en-US" sz="1200">
                <a:solidFill>
                  <a:srgbClr val="898989"/>
                </a:solidFill>
              </a:rPr>
            </a:fld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/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898989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/>
            <a:fld id="{057B0419-BA19-4405-B337-177AFEC38193}" type="slidenum">
              <a:rPr lang="zh-CN" altLang="en-US" sz="1200">
                <a:solidFill>
                  <a:srgbClr val="898989"/>
                </a:solidFill>
              </a:rPr>
            </a:fld>
            <a:endParaRPr lang="zh-C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fld id="{D889B720-B504-48D5-8D4D-415B82E3B068}" type="datetime1">
              <a:rPr lang="zh-CN" altLang="en-US" sz="1200">
                <a:solidFill>
                  <a:srgbClr val="898989"/>
                </a:solidFill>
              </a:rPr>
            </a:fld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/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898989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/>
            <a:fld id="{057B0419-BA19-4405-B337-177AFEC38193}" type="slidenum">
              <a:rPr lang="zh-CN" altLang="en-US" sz="1200">
                <a:solidFill>
                  <a:srgbClr val="898989"/>
                </a:solidFill>
              </a:rPr>
            </a:fld>
            <a:endParaRPr lang="zh-C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fld id="{D889B720-B504-48D5-8D4D-415B82E3B068}" type="datetime1">
              <a:rPr lang="zh-CN" altLang="en-US" sz="1200">
                <a:solidFill>
                  <a:srgbClr val="898989"/>
                </a:solidFill>
              </a:rPr>
            </a:fld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/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898989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/>
            <a:fld id="{057B0419-BA19-4405-B337-177AFEC38193}" type="slidenum">
              <a:rPr lang="zh-CN" altLang="en-US" sz="1200">
                <a:solidFill>
                  <a:srgbClr val="898989"/>
                </a:solidFill>
              </a:rPr>
            </a:fld>
            <a:endParaRPr lang="zh-C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fld id="{D889B720-B504-48D5-8D4D-415B82E3B068}" type="datetime1">
              <a:rPr lang="zh-CN" altLang="en-US" sz="1200">
                <a:solidFill>
                  <a:srgbClr val="898989"/>
                </a:solidFill>
              </a:rPr>
            </a:fld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/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898989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/>
            <a:fld id="{057B0419-BA19-4405-B337-177AFEC38193}" type="slidenum">
              <a:rPr lang="zh-CN" altLang="en-US" sz="1200">
                <a:solidFill>
                  <a:srgbClr val="898989"/>
                </a:solidFill>
              </a:rPr>
            </a:fld>
            <a:endParaRPr lang="zh-C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fld id="{D889B720-B504-48D5-8D4D-415B82E3B068}" type="datetime1">
              <a:rPr lang="zh-CN" altLang="en-US" sz="1200">
                <a:solidFill>
                  <a:srgbClr val="898989"/>
                </a:solidFill>
              </a:rPr>
            </a:fld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/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898989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/>
            <a:fld id="{057B0419-BA19-4405-B337-177AFEC38193}" type="slidenum">
              <a:rPr lang="zh-CN" altLang="en-US" sz="1200">
                <a:solidFill>
                  <a:srgbClr val="898989"/>
                </a:solidFill>
              </a:rPr>
            </a:fld>
            <a:endParaRPr lang="zh-C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fld id="{D889B720-B504-48D5-8D4D-415B82E3B068}" type="datetime1">
              <a:rPr lang="zh-CN" altLang="en-US" sz="1200">
                <a:solidFill>
                  <a:srgbClr val="898989"/>
                </a:solidFill>
              </a:rPr>
            </a:fld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/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898989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/>
            <a:fld id="{057B0419-BA19-4405-B337-177AFEC38193}" type="slidenum">
              <a:rPr lang="zh-CN" altLang="en-US" sz="1200">
                <a:solidFill>
                  <a:srgbClr val="898989"/>
                </a:solidFill>
              </a:rPr>
            </a:fld>
            <a:endParaRPr lang="zh-C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fld id="{D889B720-B504-48D5-8D4D-415B82E3B068}" type="datetime1">
              <a:rPr lang="zh-CN" altLang="en-US" sz="1200">
                <a:solidFill>
                  <a:srgbClr val="898989"/>
                </a:solidFill>
              </a:rPr>
            </a:fld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/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898989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/>
            <a:fld id="{057B0419-BA19-4405-B337-177AFEC38193}" type="slidenum">
              <a:rPr lang="zh-CN" altLang="en-US" sz="1200">
                <a:solidFill>
                  <a:srgbClr val="898989"/>
                </a:solidFill>
              </a:rPr>
            </a:fld>
            <a:endParaRPr lang="zh-C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fld id="{D889B720-B504-48D5-8D4D-415B82E3B068}" type="datetime1">
              <a:rPr lang="zh-CN" altLang="en-US" sz="1200">
                <a:solidFill>
                  <a:srgbClr val="898989"/>
                </a:solidFill>
              </a:rPr>
            </a:fld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/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898989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/>
            <a:fld id="{057B0419-BA19-4405-B337-177AFEC38193}" type="slidenum">
              <a:rPr lang="zh-CN" altLang="en-US" sz="1200">
                <a:solidFill>
                  <a:srgbClr val="898989"/>
                </a:solidFill>
              </a:rPr>
            </a:fld>
            <a:endParaRPr lang="zh-C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ctr" anchorCtr="0">
            <a:noAutofit/>
          </a:bodyPr>
          <a:lstStyle>
            <a:lvl1pPr marL="0" indent="0" algn="l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4400" b="0" i="0" u="none" kern="1200" baseline="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  <a:cs typeface="+mj-cs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lvl1pPr marL="228600" indent="-228600" algn="l" defTabSz="9144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4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0"/>
            <a:r>
              <a:rPr lang="zh-CN" altLang="en-US"/>
              <a:t>第二级</a:t>
            </a:r>
            <a:endParaRPr lang="zh-CN" altLang="en-US"/>
          </a:p>
          <a:p>
            <a:pPr lvl="0"/>
            <a:r>
              <a:rPr lang="zh-CN" altLang="en-US"/>
              <a:t>第三级</a:t>
            </a:r>
            <a:endParaRPr lang="zh-CN" altLang="en-US"/>
          </a:p>
          <a:p>
            <a:pPr lvl="0"/>
            <a:r>
              <a:rPr lang="zh-CN" altLang="en-US"/>
              <a:t>第四级</a:t>
            </a:r>
            <a:endParaRPr lang="zh-CN" altLang="en-US"/>
          </a:p>
          <a:p>
            <a:pPr lvl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r>
              <a:rPr lang="en-US" altLang="zh-CN" sz="1200">
                <a:solidFill>
                  <a:srgbClr val="898989"/>
                </a:solidFill>
              </a:rPr>
              <a:t>2022/7/24</a:t>
            </a:r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102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/>
            <a:endParaRPr lang="zh-CN" altLang="en-US" sz="1200">
              <a:solidFill>
                <a:srgbClr val="898989"/>
              </a:solidFill>
            </a:endParaRPr>
          </a:p>
        </p:txBody>
      </p:sp>
      <p:sp>
        <p:nvSpPr>
          <p:cNvPr id="103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898989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/>
            <a:r>
              <a:rPr lang="en-US" altLang="zh-CN" sz="1200">
                <a:solidFill>
                  <a:srgbClr val="898989"/>
                </a:solidFill>
              </a:rPr>
              <a:t>‹#›</a:t>
            </a:r>
            <a:endParaRPr lang="zh-CN" altLang="en-US" sz="1200">
              <a:solidFill>
                <a:srgbClr val="898989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marL="0" indent="0" algn="l" defTabSz="9144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4400" b="0" i="0" u="none" kern="1200" baseline="0">
          <a:solidFill>
            <a:schemeClr val="tx1"/>
          </a:solidFill>
          <a:effectLst/>
          <a:latin typeface="Calibri Light" panose="020F0302020204030204" pitchFamily="34" charset="0"/>
          <a:ea typeface="宋体" panose="02010600030101010101" pitchFamily="2" charset="-122"/>
          <a:cs typeface="+mj-cs"/>
        </a:defRPr>
      </a:lvl1pPr>
    </p:titleStyle>
    <p:bodyStyle>
      <a:lvl1pPr marL="228600" indent="-228600" algn="l" defTabSz="914400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2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24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20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4572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144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3716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8288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2" Type="http://schemas.openxmlformats.org/officeDocument/2006/relationships/notesSlide" Target="../notesSlides/notesSlide21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文本框 18"/>
          <p:cNvSpPr txBox="1"/>
          <p:nvPr/>
        </p:nvSpPr>
        <p:spPr>
          <a:xfrm>
            <a:off x="1992313" y="2593975"/>
            <a:ext cx="8170862" cy="923330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r" eaLnBrk="1" hangingPunct="1"/>
            <a:r>
              <a:rPr lang="zh-CN" altLang="en-US" sz="5400" b="1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基于线性回归的房价预测</a:t>
            </a:r>
            <a:endParaRPr lang="zh-CN" altLang="en-US" sz="5400" b="1" dirty="0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51" name="组合 58"/>
          <p:cNvGrpSpPr/>
          <p:nvPr/>
        </p:nvGrpSpPr>
        <p:grpSpPr>
          <a:xfrm>
            <a:off x="4154488" y="3624323"/>
            <a:ext cx="3846512" cy="190440"/>
            <a:chOff x="4154888" y="3453573"/>
            <a:chExt cx="3846874" cy="361046"/>
          </a:xfrm>
        </p:grpSpPr>
        <p:cxnSp>
          <p:nvCxnSpPr>
            <p:cNvPr id="2072" name="直接连接符 20"/>
            <p:cNvCxnSpPr/>
            <p:nvPr/>
          </p:nvCxnSpPr>
          <p:spPr>
            <a:xfrm>
              <a:off x="4154888" y="3453573"/>
              <a:ext cx="3846874" cy="0"/>
            </a:xfrm>
            <a:prstGeom prst="line">
              <a:avLst/>
            </a:prstGeom>
            <a:noFill/>
            <a:ln w="25400">
              <a:solidFill>
                <a:srgbClr val="044875"/>
              </a:solidFill>
              <a:miter lim="800000"/>
            </a:ln>
          </p:spPr>
        </p:cxnSp>
        <p:sp>
          <p:nvSpPr>
            <p:cNvPr id="2073" name="等腰三角形 27"/>
            <p:cNvSpPr/>
            <p:nvPr/>
          </p:nvSpPr>
          <p:spPr>
            <a:xfrm flipV="1">
              <a:off x="5872725" y="3459907"/>
              <a:ext cx="411201" cy="354712"/>
            </a:xfrm>
            <a:prstGeom prst="triangle">
              <a:avLst>
                <a:gd name="adj" fmla="val 50000"/>
              </a:avLst>
            </a:prstGeom>
            <a:solidFill>
              <a:srgbClr val="044875"/>
            </a:solidFill>
            <a:ln w="12700"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2054" name="文本框 26"/>
          <p:cNvSpPr/>
          <p:nvPr/>
        </p:nvSpPr>
        <p:spPr>
          <a:xfrm>
            <a:off x="4845421" y="4063185"/>
            <a:ext cx="2309813" cy="40011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lvl1pPr marL="228600" indent="-228600" algn="l" defTabSz="9144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4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2025.5.9</a:t>
            </a:r>
            <a:endParaRPr lang="zh-CN" altLang="en-US" sz="2000" dirty="0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57" name="组合 42"/>
          <p:cNvGrpSpPr/>
          <p:nvPr/>
        </p:nvGrpSpPr>
        <p:grpSpPr>
          <a:xfrm>
            <a:off x="10290175" y="4325938"/>
            <a:ext cx="1109663" cy="1130300"/>
            <a:chOff x="2666985" y="682103"/>
            <a:chExt cx="1109138" cy="1131217"/>
          </a:xfrm>
        </p:grpSpPr>
        <p:sp>
          <p:nvSpPr>
            <p:cNvPr id="2069" name="矩形 39"/>
            <p:cNvSpPr/>
            <p:nvPr/>
          </p:nvSpPr>
          <p:spPr>
            <a:xfrm>
              <a:off x="2841527" y="858458"/>
              <a:ext cx="769574" cy="768973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70" name="矩形 40"/>
            <p:cNvSpPr/>
            <p:nvPr/>
          </p:nvSpPr>
          <p:spPr>
            <a:xfrm>
              <a:off x="2666985" y="682103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71" name="矩形 41"/>
            <p:cNvSpPr/>
            <p:nvPr/>
          </p:nvSpPr>
          <p:spPr>
            <a:xfrm>
              <a:off x="3217587" y="1254067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2058" name="组合 43"/>
          <p:cNvGrpSpPr/>
          <p:nvPr/>
        </p:nvGrpSpPr>
        <p:grpSpPr>
          <a:xfrm>
            <a:off x="792163" y="1462088"/>
            <a:ext cx="1109662" cy="1131887"/>
            <a:chOff x="2666985" y="682103"/>
            <a:chExt cx="1109138" cy="1131217"/>
          </a:xfrm>
        </p:grpSpPr>
        <p:sp>
          <p:nvSpPr>
            <p:cNvPr id="2066" name="矩形 44"/>
            <p:cNvSpPr/>
            <p:nvPr/>
          </p:nvSpPr>
          <p:spPr>
            <a:xfrm>
              <a:off x="2841528" y="858211"/>
              <a:ext cx="769573" cy="769482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67" name="矩形 45"/>
            <p:cNvSpPr/>
            <p:nvPr/>
          </p:nvSpPr>
          <p:spPr>
            <a:xfrm>
              <a:off x="2666985" y="682103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68" name="矩形 46"/>
            <p:cNvSpPr/>
            <p:nvPr/>
          </p:nvSpPr>
          <p:spPr>
            <a:xfrm>
              <a:off x="3217587" y="1254851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2059" name="矩形 48"/>
          <p:cNvSpPr/>
          <p:nvPr/>
        </p:nvSpPr>
        <p:spPr>
          <a:xfrm>
            <a:off x="0" y="-12700"/>
            <a:ext cx="12192000" cy="373063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60" name="矩形 52"/>
          <p:cNvSpPr/>
          <p:nvPr/>
        </p:nvSpPr>
        <p:spPr>
          <a:xfrm>
            <a:off x="11566525" y="6523038"/>
            <a:ext cx="625475" cy="3349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61" name="矩形 53"/>
          <p:cNvSpPr/>
          <p:nvPr/>
        </p:nvSpPr>
        <p:spPr>
          <a:xfrm>
            <a:off x="0" y="6523038"/>
            <a:ext cx="12000656" cy="3349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26"/>
          <p:cNvSpPr/>
          <p:nvPr/>
        </p:nvSpPr>
        <p:spPr>
          <a:xfrm>
            <a:off x="3719736" y="4490784"/>
            <a:ext cx="5709667" cy="78790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>
            <a:spAutoFit/>
          </a:bodyPr>
          <a:lstStyle>
            <a:lvl1pPr marL="228600" indent="-228600" algn="l" defTabSz="9144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4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</a:t>
            </a:r>
            <a:r>
              <a:rPr lang="zh-CN" altLang="en-US" dirty="0"/>
              <a:t> </a:t>
            </a:r>
            <a:r>
              <a:rPr lang="zh-CN" altLang="en-US" sz="20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刘昊辰 张嘉诚 罗天屹 丁梓翔</a:t>
            </a:r>
            <a:endParaRPr lang="zh-CN" altLang="en-US" sz="2000" dirty="0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000" dirty="0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  <p:bldP spid="2054" grpId="0"/>
      <p:bldP spid="2059" grpId="0" animBg="1"/>
      <p:bldP spid="2060" grpId="0" animBg="1"/>
      <p:bldP spid="2061" grpId="0" animBg="1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/>
          <p:nvPr/>
        </p:nvSpPr>
        <p:spPr>
          <a:xfrm>
            <a:off x="0" y="-12700"/>
            <a:ext cx="12192000" cy="373063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076" name="矩形 3"/>
          <p:cNvSpPr/>
          <p:nvPr/>
        </p:nvSpPr>
        <p:spPr>
          <a:xfrm>
            <a:off x="0" y="6523038"/>
            <a:ext cx="12288688" cy="3349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3077" name="组合 69"/>
          <p:cNvGrpSpPr/>
          <p:nvPr/>
        </p:nvGrpSpPr>
        <p:grpSpPr>
          <a:xfrm>
            <a:off x="312738" y="2738040"/>
            <a:ext cx="4843462" cy="712788"/>
            <a:chOff x="6298049" y="1397569"/>
            <a:chExt cx="4842391" cy="712882"/>
          </a:xfrm>
        </p:grpSpPr>
        <p:sp>
          <p:nvSpPr>
            <p:cNvPr id="3131" name="Freeform 74"/>
            <p:cNvSpPr>
              <a:spLocks noEditPoints="1"/>
            </p:cNvSpPr>
            <p:nvPr/>
          </p:nvSpPr>
          <p:spPr bwMode="auto">
            <a:xfrm>
              <a:off x="7321760" y="1592858"/>
              <a:ext cx="538044" cy="350883"/>
            </a:xfrm>
            <a:custGeom>
              <a:avLst/>
              <a:gdLst>
                <a:gd name="T0" fmla="*/ 18 w 99"/>
                <a:gd name="T1" fmla="*/ 58 h 65"/>
                <a:gd name="T2" fmla="*/ 53 w 99"/>
                <a:gd name="T3" fmla="*/ 65 h 65"/>
                <a:gd name="T4" fmla="*/ 87 w 99"/>
                <a:gd name="T5" fmla="*/ 57 h 65"/>
                <a:gd name="T6" fmla="*/ 87 w 99"/>
                <a:gd name="T7" fmla="*/ 23 h 65"/>
                <a:gd name="T8" fmla="*/ 53 w 99"/>
                <a:gd name="T9" fmla="*/ 28 h 65"/>
                <a:gd name="T10" fmla="*/ 18 w 99"/>
                <a:gd name="T11" fmla="*/ 23 h 65"/>
                <a:gd name="T12" fmla="*/ 18 w 99"/>
                <a:gd name="T13" fmla="*/ 58 h 65"/>
                <a:gd name="T14" fmla="*/ 99 w 99"/>
                <a:gd name="T15" fmla="*/ 8 h 65"/>
                <a:gd name="T16" fmla="*/ 99 w 99"/>
                <a:gd name="T17" fmla="*/ 17 h 65"/>
                <a:gd name="T18" fmla="*/ 53 w 99"/>
                <a:gd name="T19" fmla="*/ 24 h 65"/>
                <a:gd name="T20" fmla="*/ 7 w 99"/>
                <a:gd name="T21" fmla="*/ 17 h 65"/>
                <a:gd name="T22" fmla="*/ 7 w 99"/>
                <a:gd name="T23" fmla="*/ 34 h 65"/>
                <a:gd name="T24" fmla="*/ 9 w 99"/>
                <a:gd name="T25" fmla="*/ 37 h 65"/>
                <a:gd name="T26" fmla="*/ 5 w 99"/>
                <a:gd name="T27" fmla="*/ 41 h 65"/>
                <a:gd name="T28" fmla="*/ 2 w 99"/>
                <a:gd name="T29" fmla="*/ 37 h 65"/>
                <a:gd name="T30" fmla="*/ 4 w 99"/>
                <a:gd name="T31" fmla="*/ 34 h 65"/>
                <a:gd name="T32" fmla="*/ 4 w 99"/>
                <a:gd name="T33" fmla="*/ 8 h 65"/>
                <a:gd name="T34" fmla="*/ 53 w 99"/>
                <a:gd name="T35" fmla="*/ 0 h 65"/>
                <a:gd name="T36" fmla="*/ 99 w 99"/>
                <a:gd name="T37" fmla="*/ 8 h 65"/>
                <a:gd name="T38" fmla="*/ 8 w 99"/>
                <a:gd name="T39" fmla="*/ 42 h 65"/>
                <a:gd name="T40" fmla="*/ 3 w 99"/>
                <a:gd name="T41" fmla="*/ 42 h 65"/>
                <a:gd name="T42" fmla="*/ 0 w 99"/>
                <a:gd name="T43" fmla="*/ 58 h 65"/>
                <a:gd name="T44" fmla="*/ 2 w 99"/>
                <a:gd name="T45" fmla="*/ 58 h 65"/>
                <a:gd name="T46" fmla="*/ 3 w 99"/>
                <a:gd name="T47" fmla="*/ 56 h 65"/>
                <a:gd name="T48" fmla="*/ 3 w 99"/>
                <a:gd name="T49" fmla="*/ 58 h 65"/>
                <a:gd name="T50" fmla="*/ 6 w 99"/>
                <a:gd name="T51" fmla="*/ 59 h 65"/>
                <a:gd name="T52" fmla="*/ 7 w 99"/>
                <a:gd name="T53" fmla="*/ 57 h 65"/>
                <a:gd name="T54" fmla="*/ 7 w 99"/>
                <a:gd name="T55" fmla="*/ 59 h 65"/>
                <a:gd name="T56" fmla="*/ 8 w 99"/>
                <a:gd name="T57" fmla="*/ 59 h 65"/>
                <a:gd name="T58" fmla="*/ 8 w 99"/>
                <a:gd name="T59" fmla="*/ 51 h 65"/>
                <a:gd name="T60" fmla="*/ 9 w 99"/>
                <a:gd name="T61" fmla="*/ 58 h 65"/>
                <a:gd name="T62" fmla="*/ 11 w 99"/>
                <a:gd name="T63" fmla="*/ 58 h 65"/>
                <a:gd name="T64" fmla="*/ 8 w 99"/>
                <a:gd name="T65" fmla="*/ 4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9" h="65">
                  <a:moveTo>
                    <a:pt x="18" y="58"/>
                  </a:moveTo>
                  <a:cubicBezTo>
                    <a:pt x="30" y="58"/>
                    <a:pt x="42" y="60"/>
                    <a:pt x="53" y="65"/>
                  </a:cubicBezTo>
                  <a:cubicBezTo>
                    <a:pt x="64" y="60"/>
                    <a:pt x="75" y="57"/>
                    <a:pt x="87" y="57"/>
                  </a:cubicBezTo>
                  <a:cubicBezTo>
                    <a:pt x="87" y="23"/>
                    <a:pt x="87" y="23"/>
                    <a:pt x="87" y="23"/>
                  </a:cubicBezTo>
                  <a:cubicBezTo>
                    <a:pt x="53" y="28"/>
                    <a:pt x="53" y="28"/>
                    <a:pt x="53" y="28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58"/>
                    <a:pt x="18" y="58"/>
                    <a:pt x="18" y="58"/>
                  </a:cubicBezTo>
                  <a:close/>
                  <a:moveTo>
                    <a:pt x="99" y="8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53" y="24"/>
                    <a:pt x="53" y="24"/>
                    <a:pt x="53" y="24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5"/>
                    <a:pt x="9" y="36"/>
                    <a:pt x="9" y="37"/>
                  </a:cubicBezTo>
                  <a:cubicBezTo>
                    <a:pt x="9" y="39"/>
                    <a:pt x="7" y="41"/>
                    <a:pt x="5" y="41"/>
                  </a:cubicBezTo>
                  <a:cubicBezTo>
                    <a:pt x="4" y="41"/>
                    <a:pt x="2" y="39"/>
                    <a:pt x="2" y="37"/>
                  </a:cubicBezTo>
                  <a:cubicBezTo>
                    <a:pt x="2" y="36"/>
                    <a:pt x="3" y="35"/>
                    <a:pt x="4" y="34"/>
                  </a:cubicBezTo>
                  <a:cubicBezTo>
                    <a:pt x="4" y="25"/>
                    <a:pt x="4" y="17"/>
                    <a:pt x="4" y="8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99" y="8"/>
                    <a:pt x="99" y="8"/>
                    <a:pt x="99" y="8"/>
                  </a:cubicBezTo>
                  <a:close/>
                  <a:moveTo>
                    <a:pt x="8" y="42"/>
                  </a:moveTo>
                  <a:cubicBezTo>
                    <a:pt x="6" y="43"/>
                    <a:pt x="5" y="43"/>
                    <a:pt x="3" y="42"/>
                  </a:cubicBezTo>
                  <a:cubicBezTo>
                    <a:pt x="2" y="47"/>
                    <a:pt x="1" y="52"/>
                    <a:pt x="0" y="58"/>
                  </a:cubicBezTo>
                  <a:cubicBezTo>
                    <a:pt x="1" y="58"/>
                    <a:pt x="2" y="58"/>
                    <a:pt x="2" y="58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4" y="59"/>
                    <a:pt x="5" y="59"/>
                    <a:pt x="6" y="59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7" y="59"/>
                    <a:pt x="8" y="59"/>
                    <a:pt x="8" y="59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10" y="58"/>
                    <a:pt x="10" y="58"/>
                    <a:pt x="11" y="58"/>
                  </a:cubicBezTo>
                  <a:cubicBezTo>
                    <a:pt x="10" y="52"/>
                    <a:pt x="9" y="47"/>
                    <a:pt x="8" y="42"/>
                  </a:cubicBez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32" name="文本框 20"/>
            <p:cNvSpPr/>
            <p:nvPr/>
          </p:nvSpPr>
          <p:spPr>
            <a:xfrm>
              <a:off x="8181210" y="1506484"/>
              <a:ext cx="2840404" cy="523289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zh-CN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问题描述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33" name="矩形 17"/>
            <p:cNvSpPr/>
            <p:nvPr/>
          </p:nvSpPr>
          <p:spPr>
            <a:xfrm>
              <a:off x="7180504" y="1397569"/>
              <a:ext cx="3959936" cy="712882"/>
            </a:xfrm>
            <a:prstGeom prst="rect">
              <a:avLst/>
            </a:prstGeom>
            <a:noFill/>
            <a:ln w="254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cxnSp>
          <p:nvCxnSpPr>
            <p:cNvPr id="3134" name="直接连接符 22"/>
            <p:cNvCxnSpPr/>
            <p:nvPr/>
          </p:nvCxnSpPr>
          <p:spPr>
            <a:xfrm flipH="1">
              <a:off x="8045500" y="1397569"/>
              <a:ext cx="12697" cy="712882"/>
            </a:xfrm>
            <a:prstGeom prst="line">
              <a:avLst/>
            </a:prstGeom>
            <a:noFill/>
            <a:ln w="25400">
              <a:solidFill>
                <a:srgbClr val="044875"/>
              </a:solidFill>
              <a:prstDash val="dash"/>
              <a:miter lim="800000"/>
            </a:ln>
          </p:spPr>
        </p:cxnSp>
        <p:grpSp>
          <p:nvGrpSpPr>
            <p:cNvPr id="3135" name="组合 68"/>
            <p:cNvGrpSpPr/>
            <p:nvPr/>
          </p:nvGrpSpPr>
          <p:grpSpPr>
            <a:xfrm>
              <a:off x="6298049" y="1397569"/>
              <a:ext cx="919239" cy="712882"/>
              <a:chOff x="6191369" y="1397569"/>
              <a:chExt cx="919239" cy="712882"/>
            </a:xfrm>
          </p:grpSpPr>
          <p:sp>
            <p:nvSpPr>
              <p:cNvPr id="3136" name="矩形 67"/>
              <p:cNvSpPr/>
              <p:nvPr/>
            </p:nvSpPr>
            <p:spPr>
              <a:xfrm>
                <a:off x="6294533" y="1397569"/>
                <a:ext cx="712631" cy="712882"/>
              </a:xfrm>
              <a:prstGeom prst="rect">
                <a:avLst/>
              </a:prstGeom>
              <a:noFill/>
              <a:ln w="2540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0">
                <a:no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marR="0" lvl="0" indent="0" algn="ctr" eaLnBrk="1" hangingPunct="1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137" name="文本框 18"/>
              <p:cNvSpPr/>
              <p:nvPr/>
            </p:nvSpPr>
            <p:spPr>
              <a:xfrm>
                <a:off x="6191369" y="1397569"/>
                <a:ext cx="919239" cy="646331"/>
              </a:xfrm>
              <a:prstGeom prst="rect">
                <a:avLst/>
              </a:prstGeom>
              <a:noFill/>
              <a:ln w="25400">
                <a:noFill/>
                <a:miter lim="800000"/>
              </a:ln>
            </p:spPr>
            <p:txBody>
              <a:bodyPr>
                <a:spAutoFit/>
              </a:bodyPr>
              <a:lstStyle>
                <a:lvl1pPr marL="228600" indent="-228600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 kumimoji="0" lang="zh-CN" altLang="en-US" sz="1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 kumimoji="0" lang="zh-CN" altLang="en-US" sz="1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3600">
                    <a:solidFill>
                      <a:srgbClr val="044875"/>
                    </a:solidFill>
                    <a:latin typeface="Impact" panose="020B0806030902050204" pitchFamily="34" charset="0"/>
                  </a:rPr>
                  <a:t>01</a:t>
                </a:r>
                <a:endParaRPr lang="zh-CN" altLang="en-US" sz="3600">
                  <a:solidFill>
                    <a:srgbClr val="044875"/>
                  </a:solidFill>
                  <a:latin typeface="Impact" panose="020B0806030902050204" pitchFamily="34" charset="0"/>
                </a:endParaRPr>
              </a:p>
            </p:txBody>
          </p:sp>
        </p:grpSp>
      </p:grpSp>
      <p:grpSp>
        <p:nvGrpSpPr>
          <p:cNvPr id="3078" name="组合 16"/>
          <p:cNvGrpSpPr/>
          <p:nvPr/>
        </p:nvGrpSpPr>
        <p:grpSpPr>
          <a:xfrm>
            <a:off x="312738" y="4509120"/>
            <a:ext cx="4843462" cy="712788"/>
            <a:chOff x="309691" y="3938645"/>
            <a:chExt cx="4842391" cy="712882"/>
          </a:xfrm>
        </p:grpSpPr>
        <p:grpSp>
          <p:nvGrpSpPr>
            <p:cNvPr id="3123" name="组合 79"/>
            <p:cNvGrpSpPr/>
            <p:nvPr/>
          </p:nvGrpSpPr>
          <p:grpSpPr>
            <a:xfrm>
              <a:off x="309691" y="3938645"/>
              <a:ext cx="4842391" cy="712882"/>
              <a:chOff x="6298049" y="1397569"/>
              <a:chExt cx="4842391" cy="712882"/>
            </a:xfrm>
          </p:grpSpPr>
          <p:sp>
            <p:nvSpPr>
              <p:cNvPr id="3125" name="文本框 81"/>
              <p:cNvSpPr/>
              <p:nvPr/>
            </p:nvSpPr>
            <p:spPr>
              <a:xfrm>
                <a:off x="8028810" y="1506484"/>
                <a:ext cx="2840404" cy="523220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>
                <a:spAutoFit/>
              </a:bodyPr>
              <a:lstStyle>
                <a:lvl1pPr marL="228600" indent="-228600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 kumimoji="0" lang="zh-CN" altLang="en-US" sz="1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 kumimoji="0" lang="zh-CN" altLang="en-US" sz="1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dirty="0">
                    <a:solidFill>
                      <a:srgbClr val="04487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程序实现</a:t>
                </a:r>
                <a:endPara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26" name="矩形 82"/>
              <p:cNvSpPr/>
              <p:nvPr/>
            </p:nvSpPr>
            <p:spPr>
              <a:xfrm>
                <a:off x="7180504" y="1397569"/>
                <a:ext cx="3959936" cy="712882"/>
              </a:xfrm>
              <a:prstGeom prst="rect">
                <a:avLst/>
              </a:prstGeom>
              <a:noFill/>
              <a:ln w="2540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0">
                <a:no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marR="0" lvl="0" indent="0" algn="ctr" eaLnBrk="1" hangingPunct="1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127" name="直接连接符 83"/>
              <p:cNvCxnSpPr/>
              <p:nvPr/>
            </p:nvCxnSpPr>
            <p:spPr>
              <a:xfrm flipH="1">
                <a:off x="8045500" y="1397569"/>
                <a:ext cx="12697" cy="712882"/>
              </a:xfrm>
              <a:prstGeom prst="line">
                <a:avLst/>
              </a:prstGeom>
              <a:noFill/>
              <a:ln w="25400">
                <a:solidFill>
                  <a:srgbClr val="044875"/>
                </a:solidFill>
                <a:prstDash val="dash"/>
                <a:miter lim="800000"/>
              </a:ln>
            </p:spPr>
          </p:cxnSp>
          <p:grpSp>
            <p:nvGrpSpPr>
              <p:cNvPr id="3128" name="组合 84"/>
              <p:cNvGrpSpPr/>
              <p:nvPr/>
            </p:nvGrpSpPr>
            <p:grpSpPr>
              <a:xfrm>
                <a:off x="6298049" y="1397569"/>
                <a:ext cx="919239" cy="712882"/>
                <a:chOff x="6191369" y="1397569"/>
                <a:chExt cx="919239" cy="712882"/>
              </a:xfrm>
            </p:grpSpPr>
            <p:sp>
              <p:nvSpPr>
                <p:cNvPr id="3129" name="矩形 85"/>
                <p:cNvSpPr/>
                <p:nvPr/>
              </p:nvSpPr>
              <p:spPr>
                <a:xfrm>
                  <a:off x="6294533" y="1397569"/>
                  <a:ext cx="712631" cy="712882"/>
                </a:xfrm>
                <a:prstGeom prst="rect">
                  <a:avLst/>
                </a:prstGeom>
                <a:noFill/>
                <a:ln w="25400">
                  <a:solidFill>
                    <a:srgbClr val="0448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0">
                  <a:noAutofit/>
                </a:bodyPr>
                <a:lstStyle>
                  <a:defPPr>
                    <a:defRPr lang="zh-CN"/>
                  </a:defPPr>
                  <a:lvl1pPr marL="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4572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9144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3716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18288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</a:lstStyle>
                <a:p>
                  <a:pPr marL="0" marR="0" lvl="0" indent="0" algn="ctr" eaLnBrk="1" hangingPunct="1"/>
                  <a:endParaRPr lang="zh-CN" alt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130" name="文本框 86"/>
                <p:cNvSpPr/>
                <p:nvPr/>
              </p:nvSpPr>
              <p:spPr>
                <a:xfrm>
                  <a:off x="6191369" y="1397569"/>
                  <a:ext cx="919239" cy="646331"/>
                </a:xfrm>
                <a:prstGeom prst="rect">
                  <a:avLst/>
                </a:prstGeom>
                <a:noFill/>
                <a:ln w="25400">
                  <a:noFill/>
                  <a:miter lim="800000"/>
                </a:ln>
              </p:spPr>
              <p:txBody>
                <a:bodyPr>
                  <a:spAutoFit/>
                </a:bodyPr>
                <a:lstStyle>
                  <a:lvl1pPr marL="228600" indent="-228600" algn="l" defTabSz="914400" rtl="0" eaLnBrk="0" fontAlgn="base" hangingPunct="0">
                    <a:lnSpc>
                      <a:spcPct val="90000"/>
                    </a:lnSpc>
                    <a:spcBef>
                      <a:spcPts val="1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defRPr kumimoji="0" lang="zh-CN" altLang="en-US" sz="2800" b="0" i="0" u="none" kern="1200" baseline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defRPr kumimoji="0" lang="zh-CN" altLang="en-US" sz="2400" b="0" i="0" u="none" kern="1200" baseline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defRPr kumimoji="0" lang="zh-CN" altLang="en-US" sz="2000" b="0" i="0" u="none" kern="1200" baseline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defRPr kumimoji="0" lang="zh-CN" altLang="en-US" sz="1800" b="0" i="0" u="none" kern="1200" baseline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defRPr kumimoji="0" lang="zh-CN" altLang="en-US" sz="1800" b="0" i="0" u="none" kern="1200" baseline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lang="zh-CN" altLang="en-US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lang="zh-CN" altLang="en-US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lang="zh-CN" altLang="en-US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lang="zh-CN" altLang="en-US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3600">
                      <a:solidFill>
                        <a:srgbClr val="044875"/>
                      </a:solidFill>
                      <a:latin typeface="Impact" panose="020B0806030902050204" pitchFamily="34" charset="0"/>
                    </a:rPr>
                    <a:t>03</a:t>
                  </a:r>
                  <a:endParaRPr lang="zh-CN" altLang="en-US" sz="3600">
                    <a:solidFill>
                      <a:srgbClr val="044875"/>
                    </a:solidFill>
                    <a:latin typeface="Impact" panose="020B0806030902050204" pitchFamily="34" charset="0"/>
                  </a:endParaRPr>
                </a:p>
              </p:txBody>
            </p:sp>
          </p:grpSp>
        </p:grpSp>
        <p:sp>
          <p:nvSpPr>
            <p:cNvPr id="3124" name="Freeform 71"/>
            <p:cNvSpPr>
              <a:spLocks noEditPoints="1"/>
            </p:cNvSpPr>
            <p:nvPr/>
          </p:nvSpPr>
          <p:spPr bwMode="auto">
            <a:xfrm>
              <a:off x="1344512" y="4024381"/>
              <a:ext cx="511062" cy="541409"/>
            </a:xfrm>
            <a:custGeom>
              <a:avLst/>
              <a:gdLst>
                <a:gd name="T0" fmla="*/ 170 w 222"/>
                <a:gd name="T1" fmla="*/ 29 h 235"/>
                <a:gd name="T2" fmla="*/ 182 w 222"/>
                <a:gd name="T3" fmla="*/ 7 h 235"/>
                <a:gd name="T4" fmla="*/ 151 w 222"/>
                <a:gd name="T5" fmla="*/ 19 h 235"/>
                <a:gd name="T6" fmla="*/ 7 w 222"/>
                <a:gd name="T7" fmla="*/ 159 h 235"/>
                <a:gd name="T8" fmla="*/ 31 w 222"/>
                <a:gd name="T9" fmla="*/ 223 h 235"/>
                <a:gd name="T10" fmla="*/ 31 w 222"/>
                <a:gd name="T11" fmla="*/ 171 h 235"/>
                <a:gd name="T12" fmla="*/ 109 w 222"/>
                <a:gd name="T13" fmla="*/ 114 h 235"/>
                <a:gd name="T14" fmla="*/ 116 w 222"/>
                <a:gd name="T15" fmla="*/ 93 h 235"/>
                <a:gd name="T16" fmla="*/ 87 w 222"/>
                <a:gd name="T17" fmla="*/ 104 h 235"/>
                <a:gd name="T18" fmla="*/ 76 w 222"/>
                <a:gd name="T19" fmla="*/ 100 h 235"/>
                <a:gd name="T20" fmla="*/ 116 w 222"/>
                <a:gd name="T21" fmla="*/ 83 h 235"/>
                <a:gd name="T22" fmla="*/ 132 w 222"/>
                <a:gd name="T23" fmla="*/ 90 h 235"/>
                <a:gd name="T24" fmla="*/ 132 w 222"/>
                <a:gd name="T25" fmla="*/ 19 h 235"/>
                <a:gd name="T26" fmla="*/ 180 w 222"/>
                <a:gd name="T27" fmla="*/ 0 h 235"/>
                <a:gd name="T28" fmla="*/ 182 w 222"/>
                <a:gd name="T29" fmla="*/ 0 h 235"/>
                <a:gd name="T30" fmla="*/ 222 w 222"/>
                <a:gd name="T31" fmla="*/ 19 h 235"/>
                <a:gd name="T32" fmla="*/ 173 w 222"/>
                <a:gd name="T33" fmla="*/ 187 h 235"/>
                <a:gd name="T34" fmla="*/ 158 w 222"/>
                <a:gd name="T35" fmla="*/ 180 h 235"/>
                <a:gd name="T36" fmla="*/ 106 w 222"/>
                <a:gd name="T37" fmla="*/ 211 h 235"/>
                <a:gd name="T38" fmla="*/ 90 w 222"/>
                <a:gd name="T39" fmla="*/ 201 h 235"/>
                <a:gd name="T40" fmla="*/ 38 w 222"/>
                <a:gd name="T41" fmla="*/ 235 h 235"/>
                <a:gd name="T42" fmla="*/ 2 w 222"/>
                <a:gd name="T43" fmla="*/ 218 h 235"/>
                <a:gd name="T44" fmla="*/ 0 w 222"/>
                <a:gd name="T45" fmla="*/ 213 h 235"/>
                <a:gd name="T46" fmla="*/ 0 w 222"/>
                <a:gd name="T47" fmla="*/ 147 h 235"/>
                <a:gd name="T48" fmla="*/ 47 w 222"/>
                <a:gd name="T49" fmla="*/ 128 h 235"/>
                <a:gd name="T50" fmla="*/ 50 w 222"/>
                <a:gd name="T51" fmla="*/ 128 h 235"/>
                <a:gd name="T52" fmla="*/ 90 w 222"/>
                <a:gd name="T53" fmla="*/ 147 h 235"/>
                <a:gd name="T54" fmla="*/ 99 w 222"/>
                <a:gd name="T55" fmla="*/ 199 h 235"/>
                <a:gd name="T56" fmla="*/ 76 w 222"/>
                <a:gd name="T57" fmla="*/ 114 h 235"/>
                <a:gd name="T58" fmla="*/ 68 w 222"/>
                <a:gd name="T59" fmla="*/ 138 h 235"/>
                <a:gd name="T60" fmla="*/ 68 w 222"/>
                <a:gd name="T61" fmla="*/ 102 h 235"/>
                <a:gd name="T62" fmla="*/ 139 w 222"/>
                <a:gd name="T63" fmla="*/ 95 h 235"/>
                <a:gd name="T64" fmla="*/ 158 w 222"/>
                <a:gd name="T65" fmla="*/ 102 h 235"/>
                <a:gd name="T66" fmla="*/ 165 w 222"/>
                <a:gd name="T67" fmla="*/ 175 h 235"/>
                <a:gd name="T68" fmla="*/ 139 w 222"/>
                <a:gd name="T69" fmla="*/ 31 h 235"/>
                <a:gd name="T70" fmla="*/ 139 w 222"/>
                <a:gd name="T71" fmla="*/ 95 h 235"/>
                <a:gd name="T72" fmla="*/ 38 w 222"/>
                <a:gd name="T73" fmla="*/ 159 h 235"/>
                <a:gd name="T74" fmla="*/ 47 w 222"/>
                <a:gd name="T75" fmla="*/ 138 h 235"/>
                <a:gd name="T76" fmla="*/ 19 w 222"/>
                <a:gd name="T77" fmla="*/ 149 h 235"/>
                <a:gd name="T78" fmla="*/ 173 w 222"/>
                <a:gd name="T79" fmla="*/ 36 h 235"/>
                <a:gd name="T80" fmla="*/ 173 w 222"/>
                <a:gd name="T81" fmla="*/ 38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21" h="235">
                  <a:moveTo>
                    <a:pt x="151" y="19"/>
                  </a:moveTo>
                  <a:lnTo>
                    <a:pt x="170" y="29"/>
                  </a:lnTo>
                  <a:lnTo>
                    <a:pt x="203" y="19"/>
                  </a:lnTo>
                  <a:lnTo>
                    <a:pt x="182" y="7"/>
                  </a:lnTo>
                  <a:lnTo>
                    <a:pt x="151" y="19"/>
                  </a:lnTo>
                  <a:lnTo>
                    <a:pt x="151" y="19"/>
                  </a:lnTo>
                  <a:close/>
                  <a:moveTo>
                    <a:pt x="31" y="171"/>
                  </a:moveTo>
                  <a:lnTo>
                    <a:pt x="7" y="159"/>
                  </a:lnTo>
                  <a:lnTo>
                    <a:pt x="7" y="211"/>
                  </a:lnTo>
                  <a:lnTo>
                    <a:pt x="31" y="223"/>
                  </a:lnTo>
                  <a:lnTo>
                    <a:pt x="31" y="171"/>
                  </a:lnTo>
                  <a:lnTo>
                    <a:pt x="31" y="171"/>
                  </a:lnTo>
                  <a:close/>
                  <a:moveTo>
                    <a:pt x="87" y="104"/>
                  </a:moveTo>
                  <a:lnTo>
                    <a:pt x="109" y="114"/>
                  </a:lnTo>
                  <a:lnTo>
                    <a:pt x="137" y="102"/>
                  </a:lnTo>
                  <a:lnTo>
                    <a:pt x="116" y="93"/>
                  </a:lnTo>
                  <a:lnTo>
                    <a:pt x="87" y="104"/>
                  </a:lnTo>
                  <a:lnTo>
                    <a:pt x="87" y="104"/>
                  </a:lnTo>
                  <a:close/>
                  <a:moveTo>
                    <a:pt x="68" y="102"/>
                  </a:moveTo>
                  <a:lnTo>
                    <a:pt x="76" y="100"/>
                  </a:lnTo>
                  <a:lnTo>
                    <a:pt x="116" y="83"/>
                  </a:lnTo>
                  <a:lnTo>
                    <a:pt x="116" y="83"/>
                  </a:lnTo>
                  <a:lnTo>
                    <a:pt x="118" y="83"/>
                  </a:lnTo>
                  <a:lnTo>
                    <a:pt x="132" y="90"/>
                  </a:lnTo>
                  <a:lnTo>
                    <a:pt x="132" y="24"/>
                  </a:lnTo>
                  <a:lnTo>
                    <a:pt x="132" y="19"/>
                  </a:lnTo>
                  <a:lnTo>
                    <a:pt x="139" y="14"/>
                  </a:lnTo>
                  <a:lnTo>
                    <a:pt x="180" y="0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215" y="14"/>
                  </a:lnTo>
                  <a:lnTo>
                    <a:pt x="222" y="19"/>
                  </a:lnTo>
                  <a:lnTo>
                    <a:pt x="222" y="168"/>
                  </a:lnTo>
                  <a:lnTo>
                    <a:pt x="173" y="187"/>
                  </a:lnTo>
                  <a:lnTo>
                    <a:pt x="168" y="185"/>
                  </a:lnTo>
                  <a:lnTo>
                    <a:pt x="158" y="180"/>
                  </a:lnTo>
                  <a:lnTo>
                    <a:pt x="158" y="192"/>
                  </a:lnTo>
                  <a:lnTo>
                    <a:pt x="106" y="211"/>
                  </a:lnTo>
                  <a:lnTo>
                    <a:pt x="102" y="209"/>
                  </a:lnTo>
                  <a:lnTo>
                    <a:pt x="90" y="201"/>
                  </a:lnTo>
                  <a:lnTo>
                    <a:pt x="90" y="216"/>
                  </a:lnTo>
                  <a:lnTo>
                    <a:pt x="38" y="235"/>
                  </a:lnTo>
                  <a:lnTo>
                    <a:pt x="33" y="232"/>
                  </a:lnTo>
                  <a:lnTo>
                    <a:pt x="2" y="218"/>
                  </a:lnTo>
                  <a:lnTo>
                    <a:pt x="0" y="216"/>
                  </a:lnTo>
                  <a:lnTo>
                    <a:pt x="0" y="213"/>
                  </a:lnTo>
                  <a:lnTo>
                    <a:pt x="0" y="154"/>
                  </a:lnTo>
                  <a:lnTo>
                    <a:pt x="0" y="147"/>
                  </a:lnTo>
                  <a:lnTo>
                    <a:pt x="7" y="145"/>
                  </a:lnTo>
                  <a:lnTo>
                    <a:pt x="47" y="128"/>
                  </a:lnTo>
                  <a:lnTo>
                    <a:pt x="47" y="128"/>
                  </a:lnTo>
                  <a:lnTo>
                    <a:pt x="50" y="128"/>
                  </a:lnTo>
                  <a:lnTo>
                    <a:pt x="80" y="145"/>
                  </a:lnTo>
                  <a:lnTo>
                    <a:pt x="90" y="147"/>
                  </a:lnTo>
                  <a:lnTo>
                    <a:pt x="90" y="194"/>
                  </a:lnTo>
                  <a:lnTo>
                    <a:pt x="99" y="199"/>
                  </a:lnTo>
                  <a:lnTo>
                    <a:pt x="99" y="126"/>
                  </a:lnTo>
                  <a:lnTo>
                    <a:pt x="76" y="114"/>
                  </a:lnTo>
                  <a:lnTo>
                    <a:pt x="76" y="142"/>
                  </a:lnTo>
                  <a:lnTo>
                    <a:pt x="68" y="138"/>
                  </a:lnTo>
                  <a:lnTo>
                    <a:pt x="68" y="109"/>
                  </a:lnTo>
                  <a:lnTo>
                    <a:pt x="68" y="102"/>
                  </a:lnTo>
                  <a:lnTo>
                    <a:pt x="68" y="102"/>
                  </a:lnTo>
                  <a:close/>
                  <a:moveTo>
                    <a:pt x="139" y="95"/>
                  </a:moveTo>
                  <a:lnTo>
                    <a:pt x="149" y="100"/>
                  </a:lnTo>
                  <a:lnTo>
                    <a:pt x="158" y="102"/>
                  </a:lnTo>
                  <a:lnTo>
                    <a:pt x="158" y="171"/>
                  </a:lnTo>
                  <a:lnTo>
                    <a:pt x="165" y="175"/>
                  </a:lnTo>
                  <a:lnTo>
                    <a:pt x="165" y="43"/>
                  </a:lnTo>
                  <a:lnTo>
                    <a:pt x="139" y="31"/>
                  </a:lnTo>
                  <a:lnTo>
                    <a:pt x="139" y="95"/>
                  </a:lnTo>
                  <a:lnTo>
                    <a:pt x="139" y="95"/>
                  </a:lnTo>
                  <a:close/>
                  <a:moveTo>
                    <a:pt x="19" y="149"/>
                  </a:moveTo>
                  <a:lnTo>
                    <a:pt x="38" y="159"/>
                  </a:lnTo>
                  <a:lnTo>
                    <a:pt x="71" y="147"/>
                  </a:lnTo>
                  <a:lnTo>
                    <a:pt x="47" y="138"/>
                  </a:lnTo>
                  <a:lnTo>
                    <a:pt x="19" y="149"/>
                  </a:lnTo>
                  <a:lnTo>
                    <a:pt x="19" y="149"/>
                  </a:lnTo>
                  <a:close/>
                  <a:moveTo>
                    <a:pt x="173" y="38"/>
                  </a:moveTo>
                  <a:lnTo>
                    <a:pt x="173" y="36"/>
                  </a:lnTo>
                  <a:lnTo>
                    <a:pt x="173" y="38"/>
                  </a:lnTo>
                  <a:lnTo>
                    <a:pt x="173" y="38"/>
                  </a:lnTo>
                  <a:lnTo>
                    <a:pt x="173" y="38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80" name="组合 15"/>
          <p:cNvGrpSpPr/>
          <p:nvPr/>
        </p:nvGrpSpPr>
        <p:grpSpPr>
          <a:xfrm>
            <a:off x="6916738" y="2738040"/>
            <a:ext cx="4843462" cy="712788"/>
            <a:chOff x="309691" y="2998271"/>
            <a:chExt cx="4842391" cy="712882"/>
          </a:xfrm>
        </p:grpSpPr>
        <p:grpSp>
          <p:nvGrpSpPr>
            <p:cNvPr id="3107" name="组合 71"/>
            <p:cNvGrpSpPr/>
            <p:nvPr/>
          </p:nvGrpSpPr>
          <p:grpSpPr>
            <a:xfrm>
              <a:off x="309691" y="2998271"/>
              <a:ext cx="4842391" cy="712882"/>
              <a:chOff x="6298049" y="1397569"/>
              <a:chExt cx="4842391" cy="712882"/>
            </a:xfrm>
          </p:grpSpPr>
          <p:sp>
            <p:nvSpPr>
              <p:cNvPr id="3109" name="文本框 73"/>
              <p:cNvSpPr/>
              <p:nvPr/>
            </p:nvSpPr>
            <p:spPr>
              <a:xfrm>
                <a:off x="8009760" y="1506484"/>
                <a:ext cx="2840404" cy="523220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>
                <a:spAutoFit/>
              </a:bodyPr>
              <a:lstStyle>
                <a:lvl1pPr marL="228600" indent="-228600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 kumimoji="0" lang="zh-CN" altLang="en-US" sz="1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 kumimoji="0" lang="zh-CN" altLang="en-US" sz="1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dirty="0">
                    <a:solidFill>
                      <a:srgbClr val="04487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系统设计</a:t>
                </a:r>
                <a:endPara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10" name="矩形 74"/>
              <p:cNvSpPr/>
              <p:nvPr/>
            </p:nvSpPr>
            <p:spPr>
              <a:xfrm>
                <a:off x="7180504" y="1397569"/>
                <a:ext cx="3959936" cy="712882"/>
              </a:xfrm>
              <a:prstGeom prst="rect">
                <a:avLst/>
              </a:prstGeom>
              <a:noFill/>
              <a:ln w="2540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0">
                <a:no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marR="0" lvl="0" indent="0" algn="ctr" eaLnBrk="1" hangingPunct="1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111" name="直接连接符 75"/>
              <p:cNvCxnSpPr/>
              <p:nvPr/>
            </p:nvCxnSpPr>
            <p:spPr>
              <a:xfrm flipH="1">
                <a:off x="8045500" y="1397569"/>
                <a:ext cx="12697" cy="712882"/>
              </a:xfrm>
              <a:prstGeom prst="line">
                <a:avLst/>
              </a:prstGeom>
              <a:noFill/>
              <a:ln w="25400">
                <a:solidFill>
                  <a:srgbClr val="044875"/>
                </a:solidFill>
                <a:prstDash val="dash"/>
                <a:miter lim="800000"/>
              </a:ln>
            </p:spPr>
          </p:cxnSp>
          <p:grpSp>
            <p:nvGrpSpPr>
              <p:cNvPr id="3112" name="组合 76"/>
              <p:cNvGrpSpPr/>
              <p:nvPr/>
            </p:nvGrpSpPr>
            <p:grpSpPr>
              <a:xfrm>
                <a:off x="6298049" y="1397569"/>
                <a:ext cx="919239" cy="712882"/>
                <a:chOff x="6191369" y="1397569"/>
                <a:chExt cx="919239" cy="712882"/>
              </a:xfrm>
            </p:grpSpPr>
            <p:sp>
              <p:nvSpPr>
                <p:cNvPr id="3113" name="矩形 77"/>
                <p:cNvSpPr/>
                <p:nvPr/>
              </p:nvSpPr>
              <p:spPr>
                <a:xfrm>
                  <a:off x="6294533" y="1397569"/>
                  <a:ext cx="712631" cy="712882"/>
                </a:xfrm>
                <a:prstGeom prst="rect">
                  <a:avLst/>
                </a:prstGeom>
                <a:noFill/>
                <a:ln w="25400">
                  <a:solidFill>
                    <a:srgbClr val="0448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0">
                  <a:noAutofit/>
                </a:bodyPr>
                <a:lstStyle>
                  <a:defPPr>
                    <a:defRPr lang="zh-CN"/>
                  </a:defPPr>
                  <a:lvl1pPr marL="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4572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9144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3716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18288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</a:lstStyle>
                <a:p>
                  <a:pPr marL="0" marR="0" lvl="0" indent="0" algn="ctr" eaLnBrk="1" hangingPunct="1"/>
                  <a:endParaRPr lang="zh-CN" alt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114" name="文本框 78"/>
                <p:cNvSpPr/>
                <p:nvPr/>
              </p:nvSpPr>
              <p:spPr>
                <a:xfrm>
                  <a:off x="6191369" y="1397569"/>
                  <a:ext cx="919239" cy="646331"/>
                </a:xfrm>
                <a:prstGeom prst="rect">
                  <a:avLst/>
                </a:prstGeom>
                <a:noFill/>
                <a:ln w="25400">
                  <a:noFill/>
                  <a:miter lim="800000"/>
                </a:ln>
              </p:spPr>
              <p:txBody>
                <a:bodyPr>
                  <a:spAutoFit/>
                </a:bodyPr>
                <a:lstStyle>
                  <a:lvl1pPr marL="228600" indent="-228600" algn="l" defTabSz="914400" rtl="0" eaLnBrk="0" fontAlgn="base" hangingPunct="0">
                    <a:lnSpc>
                      <a:spcPct val="90000"/>
                    </a:lnSpc>
                    <a:spcBef>
                      <a:spcPts val="1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defRPr kumimoji="0" lang="zh-CN" altLang="en-US" sz="2800" b="0" i="0" u="none" kern="1200" baseline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defRPr kumimoji="0" lang="zh-CN" altLang="en-US" sz="2400" b="0" i="0" u="none" kern="1200" baseline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defRPr kumimoji="0" lang="zh-CN" altLang="en-US" sz="2000" b="0" i="0" u="none" kern="1200" baseline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defRPr kumimoji="0" lang="zh-CN" altLang="en-US" sz="1800" b="0" i="0" u="none" kern="1200" baseline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defRPr kumimoji="0" lang="zh-CN" altLang="en-US" sz="1800" b="0" i="0" u="none" kern="1200" baseline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lang="zh-CN" altLang="en-US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lang="zh-CN" altLang="en-US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lang="zh-CN" altLang="en-US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lang="zh-CN" altLang="en-US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3600">
                      <a:solidFill>
                        <a:srgbClr val="044875"/>
                      </a:solidFill>
                      <a:latin typeface="Impact" panose="020B0806030902050204" pitchFamily="34" charset="0"/>
                    </a:rPr>
                    <a:t>02</a:t>
                  </a:r>
                  <a:endParaRPr lang="zh-CN" altLang="en-US" sz="3600">
                    <a:solidFill>
                      <a:srgbClr val="044875"/>
                    </a:solidFill>
                    <a:latin typeface="Impact" panose="020B0806030902050204" pitchFamily="34" charset="0"/>
                  </a:endParaRPr>
                </a:p>
              </p:txBody>
            </p:sp>
          </p:grpSp>
        </p:grpSp>
        <p:sp>
          <p:nvSpPr>
            <p:cNvPr id="3108" name="Freeform 30"/>
            <p:cNvSpPr>
              <a:spLocks noEditPoints="1"/>
            </p:cNvSpPr>
            <p:nvPr/>
          </p:nvSpPr>
          <p:spPr bwMode="auto">
            <a:xfrm>
              <a:off x="1401649" y="3137989"/>
              <a:ext cx="401548" cy="528708"/>
            </a:xfrm>
            <a:custGeom>
              <a:avLst/>
              <a:gdLst>
                <a:gd name="T0" fmla="*/ 60 w 74"/>
                <a:gd name="T1" fmla="*/ 0 h 97"/>
                <a:gd name="T2" fmla="*/ 72 w 74"/>
                <a:gd name="T3" fmla="*/ 11 h 97"/>
                <a:gd name="T4" fmla="*/ 70 w 74"/>
                <a:gd name="T5" fmla="*/ 52 h 97"/>
                <a:gd name="T6" fmla="*/ 63 w 74"/>
                <a:gd name="T7" fmla="*/ 11 h 97"/>
                <a:gd name="T8" fmla="*/ 60 w 74"/>
                <a:gd name="T9" fmla="*/ 8 h 97"/>
                <a:gd name="T10" fmla="*/ 26 w 74"/>
                <a:gd name="T11" fmla="*/ 11 h 97"/>
                <a:gd name="T12" fmla="*/ 26 w 74"/>
                <a:gd name="T13" fmla="*/ 18 h 97"/>
                <a:gd name="T14" fmla="*/ 19 w 74"/>
                <a:gd name="T15" fmla="*/ 24 h 97"/>
                <a:gd name="T16" fmla="*/ 12 w 74"/>
                <a:gd name="T17" fmla="*/ 24 h 97"/>
                <a:gd name="T18" fmla="*/ 8 w 74"/>
                <a:gd name="T19" fmla="*/ 79 h 97"/>
                <a:gd name="T20" fmla="*/ 9 w 74"/>
                <a:gd name="T21" fmla="*/ 81 h 97"/>
                <a:gd name="T22" fmla="*/ 28 w 74"/>
                <a:gd name="T23" fmla="*/ 82 h 97"/>
                <a:gd name="T24" fmla="*/ 37 w 74"/>
                <a:gd name="T25" fmla="*/ 90 h 97"/>
                <a:gd name="T26" fmla="*/ 3 w 74"/>
                <a:gd name="T27" fmla="*/ 87 h 97"/>
                <a:gd name="T28" fmla="*/ 3 w 74"/>
                <a:gd name="T29" fmla="*/ 87 h 97"/>
                <a:gd name="T30" fmla="*/ 0 w 74"/>
                <a:gd name="T31" fmla="*/ 20 h 97"/>
                <a:gd name="T32" fmla="*/ 1 w 74"/>
                <a:gd name="T33" fmla="*/ 17 h 97"/>
                <a:gd name="T34" fmla="*/ 19 w 74"/>
                <a:gd name="T35" fmla="*/ 0 h 97"/>
                <a:gd name="T36" fmla="*/ 17 w 74"/>
                <a:gd name="T37" fmla="*/ 52 h 97"/>
                <a:gd name="T38" fmla="*/ 27 w 74"/>
                <a:gd name="T39" fmla="*/ 56 h 97"/>
                <a:gd name="T40" fmla="*/ 17 w 74"/>
                <a:gd name="T41" fmla="*/ 52 h 97"/>
                <a:gd name="T42" fmla="*/ 17 w 74"/>
                <a:gd name="T43" fmla="*/ 44 h 97"/>
                <a:gd name="T44" fmla="*/ 56 w 74"/>
                <a:gd name="T45" fmla="*/ 40 h 97"/>
                <a:gd name="T46" fmla="*/ 17 w 74"/>
                <a:gd name="T47" fmla="*/ 28 h 97"/>
                <a:gd name="T48" fmla="*/ 56 w 74"/>
                <a:gd name="T49" fmla="*/ 33 h 97"/>
                <a:gd name="T50" fmla="*/ 17 w 74"/>
                <a:gd name="T51" fmla="*/ 28 h 97"/>
                <a:gd name="T52" fmla="*/ 34 w 74"/>
                <a:gd name="T53" fmla="*/ 22 h 97"/>
                <a:gd name="T54" fmla="*/ 56 w 74"/>
                <a:gd name="T55" fmla="*/ 17 h 97"/>
                <a:gd name="T56" fmla="*/ 41 w 74"/>
                <a:gd name="T57" fmla="*/ 69 h 97"/>
                <a:gd name="T58" fmla="*/ 41 w 74"/>
                <a:gd name="T59" fmla="*/ 69 h 97"/>
                <a:gd name="T60" fmla="*/ 31 w 74"/>
                <a:gd name="T61" fmla="*/ 66 h 97"/>
                <a:gd name="T62" fmla="*/ 47 w 74"/>
                <a:gd name="T63" fmla="*/ 86 h 97"/>
                <a:gd name="T64" fmla="*/ 59 w 74"/>
                <a:gd name="T65" fmla="*/ 87 h 97"/>
                <a:gd name="T66" fmla="*/ 71 w 74"/>
                <a:gd name="T67" fmla="*/ 96 h 97"/>
                <a:gd name="T68" fmla="*/ 72 w 74"/>
                <a:gd name="T69" fmla="*/ 90 h 97"/>
                <a:gd name="T70" fmla="*/ 63 w 74"/>
                <a:gd name="T71" fmla="*/ 80 h 97"/>
                <a:gd name="T72" fmla="*/ 64 w 74"/>
                <a:gd name="T73" fmla="*/ 57 h 97"/>
                <a:gd name="T74" fmla="*/ 38 w 74"/>
                <a:gd name="T75" fmla="*/ 54 h 97"/>
                <a:gd name="T76" fmla="*/ 42 w 74"/>
                <a:gd name="T77" fmla="*/ 58 h 97"/>
                <a:gd name="T78" fmla="*/ 40 w 74"/>
                <a:gd name="T79" fmla="*/ 76 h 97"/>
                <a:gd name="T80" fmla="*/ 57 w 74"/>
                <a:gd name="T81" fmla="*/ 78 h 97"/>
                <a:gd name="T82" fmla="*/ 59 w 74"/>
                <a:gd name="T83" fmla="*/ 61 h 97"/>
                <a:gd name="T84" fmla="*/ 21 w 74"/>
                <a:gd name="T85" fmla="*/ 9 h 97"/>
                <a:gd name="T86" fmla="*/ 13 w 74"/>
                <a:gd name="T87" fmla="*/ 19 h 97"/>
                <a:gd name="T88" fmla="*/ 17 w 74"/>
                <a:gd name="T89" fmla="*/ 20 h 97"/>
                <a:gd name="T90" fmla="*/ 18 w 74"/>
                <a:gd name="T91" fmla="*/ 20 h 97"/>
                <a:gd name="T92" fmla="*/ 22 w 74"/>
                <a:gd name="T93" fmla="*/ 17 h 97"/>
                <a:gd name="T94" fmla="*/ 22 w 74"/>
                <a:gd name="T95" fmla="*/ 15 h 97"/>
                <a:gd name="T96" fmla="*/ 21 w 74"/>
                <a:gd name="T97" fmla="*/ 11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4" h="97">
                  <a:moveTo>
                    <a:pt x="21" y="0"/>
                  </a:moveTo>
                  <a:cubicBezTo>
                    <a:pt x="60" y="0"/>
                    <a:pt x="60" y="0"/>
                    <a:pt x="60" y="0"/>
                  </a:cubicBezTo>
                  <a:cubicBezTo>
                    <a:pt x="64" y="0"/>
                    <a:pt x="66" y="1"/>
                    <a:pt x="68" y="3"/>
                  </a:cubicBezTo>
                  <a:cubicBezTo>
                    <a:pt x="70" y="5"/>
                    <a:pt x="72" y="8"/>
                    <a:pt x="72" y="11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71" y="55"/>
                    <a:pt x="70" y="53"/>
                    <a:pt x="70" y="52"/>
                  </a:cubicBezTo>
                  <a:cubicBezTo>
                    <a:pt x="68" y="50"/>
                    <a:pt x="66" y="48"/>
                    <a:pt x="63" y="47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0"/>
                    <a:pt x="63" y="9"/>
                    <a:pt x="62" y="9"/>
                  </a:cubicBezTo>
                  <a:cubicBezTo>
                    <a:pt x="62" y="8"/>
                    <a:pt x="61" y="8"/>
                    <a:pt x="60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6"/>
                    <a:pt x="26" y="17"/>
                    <a:pt x="26" y="18"/>
                  </a:cubicBezTo>
                  <a:cubicBezTo>
                    <a:pt x="26" y="19"/>
                    <a:pt x="25" y="21"/>
                    <a:pt x="23" y="22"/>
                  </a:cubicBezTo>
                  <a:cubicBezTo>
                    <a:pt x="22" y="23"/>
                    <a:pt x="21" y="24"/>
                    <a:pt x="19" y="24"/>
                  </a:cubicBezTo>
                  <a:cubicBezTo>
                    <a:pt x="18" y="24"/>
                    <a:pt x="17" y="24"/>
                    <a:pt x="16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8" y="80"/>
                    <a:pt x="9" y="80"/>
                    <a:pt x="9" y="81"/>
                  </a:cubicBezTo>
                  <a:cubicBezTo>
                    <a:pt x="9" y="81"/>
                    <a:pt x="9" y="81"/>
                    <a:pt x="9" y="81"/>
                  </a:cubicBezTo>
                  <a:cubicBezTo>
                    <a:pt x="10" y="81"/>
                    <a:pt x="10" y="82"/>
                    <a:pt x="11" y="82"/>
                  </a:cubicBezTo>
                  <a:cubicBezTo>
                    <a:pt x="28" y="82"/>
                    <a:pt x="28" y="82"/>
                    <a:pt x="28" y="82"/>
                  </a:cubicBezTo>
                  <a:cubicBezTo>
                    <a:pt x="28" y="82"/>
                    <a:pt x="29" y="83"/>
                    <a:pt x="29" y="84"/>
                  </a:cubicBezTo>
                  <a:cubicBezTo>
                    <a:pt x="31" y="86"/>
                    <a:pt x="34" y="88"/>
                    <a:pt x="37" y="90"/>
                  </a:cubicBezTo>
                  <a:cubicBezTo>
                    <a:pt x="11" y="90"/>
                    <a:pt x="11" y="90"/>
                    <a:pt x="11" y="90"/>
                  </a:cubicBezTo>
                  <a:cubicBezTo>
                    <a:pt x="8" y="90"/>
                    <a:pt x="5" y="89"/>
                    <a:pt x="3" y="87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1" y="85"/>
                    <a:pt x="0" y="82"/>
                    <a:pt x="0" y="7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1" y="0"/>
                    <a:pt x="21" y="0"/>
                    <a:pt x="21" y="0"/>
                  </a:cubicBezTo>
                  <a:close/>
                  <a:moveTo>
                    <a:pt x="17" y="52"/>
                  </a:moveTo>
                  <a:cubicBezTo>
                    <a:pt x="17" y="56"/>
                    <a:pt x="17" y="56"/>
                    <a:pt x="17" y="56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17" y="52"/>
                    <a:pt x="17" y="52"/>
                    <a:pt x="17" y="52"/>
                  </a:cubicBezTo>
                  <a:close/>
                  <a:moveTo>
                    <a:pt x="17" y="40"/>
                  </a:moveTo>
                  <a:cubicBezTo>
                    <a:pt x="17" y="44"/>
                    <a:pt x="17" y="44"/>
                    <a:pt x="17" y="44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17" y="40"/>
                    <a:pt x="17" y="40"/>
                    <a:pt x="17" y="40"/>
                  </a:cubicBezTo>
                  <a:close/>
                  <a:moveTo>
                    <a:pt x="17" y="28"/>
                  </a:moveTo>
                  <a:cubicBezTo>
                    <a:pt x="17" y="33"/>
                    <a:pt x="17" y="33"/>
                    <a:pt x="17" y="33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17" y="28"/>
                    <a:pt x="17" y="28"/>
                    <a:pt x="17" y="28"/>
                  </a:cubicBezTo>
                  <a:close/>
                  <a:moveTo>
                    <a:pt x="34" y="17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56" y="22"/>
                    <a:pt x="56" y="22"/>
                    <a:pt x="56" y="22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34" y="17"/>
                    <a:pt x="34" y="17"/>
                    <a:pt x="34" y="17"/>
                  </a:cubicBezTo>
                  <a:close/>
                  <a:moveTo>
                    <a:pt x="41" y="69"/>
                  </a:moveTo>
                  <a:cubicBezTo>
                    <a:pt x="43" y="64"/>
                    <a:pt x="48" y="61"/>
                    <a:pt x="55" y="60"/>
                  </a:cubicBezTo>
                  <a:cubicBezTo>
                    <a:pt x="48" y="56"/>
                    <a:pt x="39" y="62"/>
                    <a:pt x="41" y="69"/>
                  </a:cubicBezTo>
                  <a:close/>
                  <a:moveTo>
                    <a:pt x="38" y="54"/>
                  </a:moveTo>
                  <a:cubicBezTo>
                    <a:pt x="34" y="57"/>
                    <a:pt x="32" y="61"/>
                    <a:pt x="31" y="66"/>
                  </a:cubicBezTo>
                  <a:cubicBezTo>
                    <a:pt x="31" y="70"/>
                    <a:pt x="32" y="75"/>
                    <a:pt x="35" y="79"/>
                  </a:cubicBezTo>
                  <a:cubicBezTo>
                    <a:pt x="38" y="83"/>
                    <a:pt x="43" y="86"/>
                    <a:pt x="47" y="86"/>
                  </a:cubicBezTo>
                  <a:cubicBezTo>
                    <a:pt x="51" y="87"/>
                    <a:pt x="55" y="86"/>
                    <a:pt x="58" y="84"/>
                  </a:cubicBezTo>
                  <a:cubicBezTo>
                    <a:pt x="58" y="85"/>
                    <a:pt x="58" y="86"/>
                    <a:pt x="59" y="87"/>
                  </a:cubicBezTo>
                  <a:cubicBezTo>
                    <a:pt x="65" y="95"/>
                    <a:pt x="65" y="95"/>
                    <a:pt x="65" y="95"/>
                  </a:cubicBezTo>
                  <a:cubicBezTo>
                    <a:pt x="67" y="97"/>
                    <a:pt x="69" y="97"/>
                    <a:pt x="71" y="96"/>
                  </a:cubicBezTo>
                  <a:cubicBezTo>
                    <a:pt x="71" y="96"/>
                    <a:pt x="71" y="96"/>
                    <a:pt x="71" y="96"/>
                  </a:cubicBezTo>
                  <a:cubicBezTo>
                    <a:pt x="73" y="94"/>
                    <a:pt x="74" y="91"/>
                    <a:pt x="72" y="90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5" y="81"/>
                    <a:pt x="64" y="80"/>
                    <a:pt x="63" y="80"/>
                  </a:cubicBezTo>
                  <a:cubicBezTo>
                    <a:pt x="66" y="77"/>
                    <a:pt x="67" y="74"/>
                    <a:pt x="68" y="70"/>
                  </a:cubicBezTo>
                  <a:cubicBezTo>
                    <a:pt x="68" y="66"/>
                    <a:pt x="67" y="61"/>
                    <a:pt x="64" y="57"/>
                  </a:cubicBezTo>
                  <a:cubicBezTo>
                    <a:pt x="61" y="53"/>
                    <a:pt x="56" y="50"/>
                    <a:pt x="52" y="50"/>
                  </a:cubicBezTo>
                  <a:cubicBezTo>
                    <a:pt x="47" y="49"/>
                    <a:pt x="42" y="50"/>
                    <a:pt x="38" y="54"/>
                  </a:cubicBezTo>
                  <a:close/>
                  <a:moveTo>
                    <a:pt x="51" y="56"/>
                  </a:moveTo>
                  <a:cubicBezTo>
                    <a:pt x="48" y="56"/>
                    <a:pt x="45" y="56"/>
                    <a:pt x="42" y="58"/>
                  </a:cubicBezTo>
                  <a:cubicBezTo>
                    <a:pt x="39" y="61"/>
                    <a:pt x="38" y="63"/>
                    <a:pt x="37" y="67"/>
                  </a:cubicBezTo>
                  <a:cubicBezTo>
                    <a:pt x="37" y="70"/>
                    <a:pt x="38" y="73"/>
                    <a:pt x="40" y="76"/>
                  </a:cubicBezTo>
                  <a:cubicBezTo>
                    <a:pt x="42" y="78"/>
                    <a:pt x="45" y="80"/>
                    <a:pt x="48" y="80"/>
                  </a:cubicBezTo>
                  <a:cubicBezTo>
                    <a:pt x="51" y="80"/>
                    <a:pt x="54" y="80"/>
                    <a:pt x="57" y="78"/>
                  </a:cubicBezTo>
                  <a:cubicBezTo>
                    <a:pt x="60" y="76"/>
                    <a:pt x="61" y="73"/>
                    <a:pt x="61" y="69"/>
                  </a:cubicBezTo>
                  <a:cubicBezTo>
                    <a:pt x="62" y="66"/>
                    <a:pt x="61" y="63"/>
                    <a:pt x="59" y="61"/>
                  </a:cubicBezTo>
                  <a:cubicBezTo>
                    <a:pt x="57" y="58"/>
                    <a:pt x="54" y="56"/>
                    <a:pt x="51" y="56"/>
                  </a:cubicBezTo>
                  <a:close/>
                  <a:moveTo>
                    <a:pt x="21" y="9"/>
                  </a:moveTo>
                  <a:cubicBezTo>
                    <a:pt x="11" y="19"/>
                    <a:pt x="11" y="19"/>
                    <a:pt x="11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8" y="20"/>
                    <a:pt x="18" y="20"/>
                  </a:cubicBezTo>
                  <a:cubicBezTo>
                    <a:pt x="19" y="20"/>
                    <a:pt x="20" y="19"/>
                    <a:pt x="21" y="19"/>
                  </a:cubicBezTo>
                  <a:cubicBezTo>
                    <a:pt x="21" y="18"/>
                    <a:pt x="22" y="17"/>
                    <a:pt x="22" y="17"/>
                  </a:cubicBezTo>
                  <a:cubicBezTo>
                    <a:pt x="22" y="16"/>
                    <a:pt x="22" y="16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1" y="11"/>
                    <a:pt x="21" y="11"/>
                    <a:pt x="21" y="11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81" name="组合 21"/>
          <p:cNvGrpSpPr/>
          <p:nvPr/>
        </p:nvGrpSpPr>
        <p:grpSpPr>
          <a:xfrm>
            <a:off x="6916738" y="4509120"/>
            <a:ext cx="4843462" cy="712788"/>
            <a:chOff x="6535248" y="3340628"/>
            <a:chExt cx="4842391" cy="712882"/>
          </a:xfrm>
        </p:grpSpPr>
        <p:grpSp>
          <p:nvGrpSpPr>
            <p:cNvPr id="3099" name="组合 115"/>
            <p:cNvGrpSpPr/>
            <p:nvPr/>
          </p:nvGrpSpPr>
          <p:grpSpPr>
            <a:xfrm>
              <a:off x="6535248" y="3340628"/>
              <a:ext cx="4842391" cy="712882"/>
              <a:chOff x="6298049" y="1397569"/>
              <a:chExt cx="4842391" cy="712882"/>
            </a:xfrm>
          </p:grpSpPr>
          <p:sp>
            <p:nvSpPr>
              <p:cNvPr id="3101" name="文本框 133"/>
              <p:cNvSpPr/>
              <p:nvPr/>
            </p:nvSpPr>
            <p:spPr>
              <a:xfrm>
                <a:off x="8028810" y="1506484"/>
                <a:ext cx="2840404" cy="523289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>
                <a:spAutoFit/>
              </a:bodyPr>
              <a:lstStyle>
                <a:lvl1pPr marL="228600" indent="-228600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 kumimoji="0" lang="zh-CN" altLang="en-US" sz="1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 kumimoji="0" lang="zh-CN" altLang="en-US" sz="1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dirty="0">
                    <a:solidFill>
                      <a:srgbClr val="04487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项目小结</a:t>
                </a:r>
                <a:endPara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02" name="矩形 134"/>
              <p:cNvSpPr/>
              <p:nvPr/>
            </p:nvSpPr>
            <p:spPr>
              <a:xfrm>
                <a:off x="7180504" y="1397569"/>
                <a:ext cx="3959936" cy="712882"/>
              </a:xfrm>
              <a:prstGeom prst="rect">
                <a:avLst/>
              </a:prstGeom>
              <a:noFill/>
              <a:ln w="2540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0">
                <a:no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marR="0" lvl="0" indent="0" algn="ctr" eaLnBrk="1" hangingPunct="1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103" name="直接连接符 135"/>
              <p:cNvCxnSpPr/>
              <p:nvPr/>
            </p:nvCxnSpPr>
            <p:spPr>
              <a:xfrm flipH="1">
                <a:off x="8045500" y="1397569"/>
                <a:ext cx="12697" cy="712882"/>
              </a:xfrm>
              <a:prstGeom prst="line">
                <a:avLst/>
              </a:prstGeom>
              <a:noFill/>
              <a:ln w="25400">
                <a:solidFill>
                  <a:srgbClr val="044875"/>
                </a:solidFill>
                <a:prstDash val="dash"/>
                <a:miter lim="800000"/>
              </a:ln>
            </p:spPr>
          </p:cxnSp>
          <p:grpSp>
            <p:nvGrpSpPr>
              <p:cNvPr id="3104" name="组合 136"/>
              <p:cNvGrpSpPr/>
              <p:nvPr/>
            </p:nvGrpSpPr>
            <p:grpSpPr>
              <a:xfrm>
                <a:off x="6298049" y="1397569"/>
                <a:ext cx="919239" cy="712882"/>
                <a:chOff x="6191369" y="1397569"/>
                <a:chExt cx="919239" cy="712882"/>
              </a:xfrm>
            </p:grpSpPr>
            <p:sp>
              <p:nvSpPr>
                <p:cNvPr id="3105" name="矩形 137"/>
                <p:cNvSpPr/>
                <p:nvPr/>
              </p:nvSpPr>
              <p:spPr>
                <a:xfrm>
                  <a:off x="6294533" y="1397569"/>
                  <a:ext cx="712631" cy="712882"/>
                </a:xfrm>
                <a:prstGeom prst="rect">
                  <a:avLst/>
                </a:prstGeom>
                <a:noFill/>
                <a:ln w="25400">
                  <a:solidFill>
                    <a:srgbClr val="0448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0">
                  <a:noAutofit/>
                </a:bodyPr>
                <a:lstStyle>
                  <a:defPPr>
                    <a:defRPr lang="zh-CN"/>
                  </a:defPPr>
                  <a:lvl1pPr marL="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4572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9144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3716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18288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</a:lstStyle>
                <a:p>
                  <a:pPr marL="0" marR="0" lvl="0" indent="0" algn="ctr" eaLnBrk="1" hangingPunct="1"/>
                  <a:endParaRPr lang="zh-CN" alt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106" name="文本框 138"/>
                <p:cNvSpPr/>
                <p:nvPr/>
              </p:nvSpPr>
              <p:spPr>
                <a:xfrm>
                  <a:off x="6191369" y="1397569"/>
                  <a:ext cx="919239" cy="646331"/>
                </a:xfrm>
                <a:prstGeom prst="rect">
                  <a:avLst/>
                </a:prstGeom>
                <a:noFill/>
                <a:ln w="25400">
                  <a:noFill/>
                  <a:miter lim="800000"/>
                </a:ln>
              </p:spPr>
              <p:txBody>
                <a:bodyPr>
                  <a:spAutoFit/>
                </a:bodyPr>
                <a:lstStyle>
                  <a:lvl1pPr marL="228600" indent="-228600" algn="l" defTabSz="914400" rtl="0" eaLnBrk="0" fontAlgn="base" hangingPunct="0">
                    <a:lnSpc>
                      <a:spcPct val="90000"/>
                    </a:lnSpc>
                    <a:spcBef>
                      <a:spcPts val="10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defRPr kumimoji="0" lang="zh-CN" altLang="en-US" sz="2800" b="0" i="0" u="none" kern="1200" baseline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defRPr kumimoji="0" lang="zh-CN" altLang="en-US" sz="2400" b="0" i="0" u="none" kern="1200" baseline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defRPr kumimoji="0" lang="zh-CN" altLang="en-US" sz="2000" b="0" i="0" u="none" kern="1200" baseline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defRPr kumimoji="0" lang="zh-CN" altLang="en-US" sz="1800" b="0" i="0" u="none" kern="1200" baseline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defRPr kumimoji="0" lang="zh-CN" altLang="en-US" sz="1800" b="0" i="0" u="none" kern="1200" baseline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lang="zh-CN" altLang="en-US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lang="zh-CN" altLang="en-US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lang="zh-CN" altLang="en-US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lang="zh-CN" altLang="en-US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3600">
                      <a:solidFill>
                        <a:srgbClr val="044875"/>
                      </a:solidFill>
                      <a:latin typeface="Impact" panose="020B0806030902050204" pitchFamily="34" charset="0"/>
                    </a:rPr>
                    <a:t>04</a:t>
                  </a:r>
                  <a:endParaRPr lang="zh-CN" altLang="en-US" sz="3600">
                    <a:solidFill>
                      <a:srgbClr val="044875"/>
                    </a:solidFill>
                    <a:latin typeface="Impact" panose="020B0806030902050204" pitchFamily="34" charset="0"/>
                  </a:endParaRPr>
                </a:p>
              </p:txBody>
            </p:sp>
          </p:grpSp>
        </p:grpSp>
        <p:sp>
          <p:nvSpPr>
            <p:cNvPr id="3100" name="Freeform 59"/>
            <p:cNvSpPr>
              <a:spLocks noEditPoints="1"/>
            </p:cNvSpPr>
            <p:nvPr/>
          </p:nvSpPr>
          <p:spPr bwMode="auto">
            <a:xfrm>
              <a:off x="7538326" y="3469233"/>
              <a:ext cx="606291" cy="457260"/>
            </a:xfrm>
            <a:custGeom>
              <a:avLst/>
              <a:gdLst>
                <a:gd name="T0" fmla="*/ 17 w 111"/>
                <a:gd name="T1" fmla="*/ 2 h 84"/>
                <a:gd name="T2" fmla="*/ 29 w 111"/>
                <a:gd name="T3" fmla="*/ 4 h 84"/>
                <a:gd name="T4" fmla="*/ 20 w 111"/>
                <a:gd name="T5" fmla="*/ 51 h 84"/>
                <a:gd name="T6" fmla="*/ 5 w 111"/>
                <a:gd name="T7" fmla="*/ 48 h 84"/>
                <a:gd name="T8" fmla="*/ 17 w 111"/>
                <a:gd name="T9" fmla="*/ 2 h 84"/>
                <a:gd name="T10" fmla="*/ 20 w 111"/>
                <a:gd name="T11" fmla="*/ 68 h 84"/>
                <a:gd name="T12" fmla="*/ 17 w 111"/>
                <a:gd name="T13" fmla="*/ 76 h 84"/>
                <a:gd name="T14" fmla="*/ 107 w 111"/>
                <a:gd name="T15" fmla="*/ 76 h 84"/>
                <a:gd name="T16" fmla="*/ 111 w 111"/>
                <a:gd name="T17" fmla="*/ 76 h 84"/>
                <a:gd name="T18" fmla="*/ 111 w 111"/>
                <a:gd name="T19" fmla="*/ 72 h 84"/>
                <a:gd name="T20" fmla="*/ 111 w 111"/>
                <a:gd name="T21" fmla="*/ 27 h 84"/>
                <a:gd name="T22" fmla="*/ 111 w 111"/>
                <a:gd name="T23" fmla="*/ 26 h 84"/>
                <a:gd name="T24" fmla="*/ 110 w 111"/>
                <a:gd name="T25" fmla="*/ 24 h 84"/>
                <a:gd name="T26" fmla="*/ 96 w 111"/>
                <a:gd name="T27" fmla="*/ 11 h 84"/>
                <a:gd name="T28" fmla="*/ 95 w 111"/>
                <a:gd name="T29" fmla="*/ 10 h 84"/>
                <a:gd name="T30" fmla="*/ 93 w 111"/>
                <a:gd name="T31" fmla="*/ 10 h 84"/>
                <a:gd name="T32" fmla="*/ 33 w 111"/>
                <a:gd name="T33" fmla="*/ 10 h 84"/>
                <a:gd name="T34" fmla="*/ 33 w 111"/>
                <a:gd name="T35" fmla="*/ 17 h 84"/>
                <a:gd name="T36" fmla="*/ 89 w 111"/>
                <a:gd name="T37" fmla="*/ 17 h 84"/>
                <a:gd name="T38" fmla="*/ 88 w 111"/>
                <a:gd name="T39" fmla="*/ 29 h 84"/>
                <a:gd name="T40" fmla="*/ 88 w 111"/>
                <a:gd name="T41" fmla="*/ 31 h 84"/>
                <a:gd name="T42" fmla="*/ 90 w 111"/>
                <a:gd name="T43" fmla="*/ 31 h 84"/>
                <a:gd name="T44" fmla="*/ 104 w 111"/>
                <a:gd name="T45" fmla="*/ 31 h 84"/>
                <a:gd name="T46" fmla="*/ 104 w 111"/>
                <a:gd name="T47" fmla="*/ 68 h 84"/>
                <a:gd name="T48" fmla="*/ 20 w 111"/>
                <a:gd name="T49" fmla="*/ 68 h 84"/>
                <a:gd name="T50" fmla="*/ 102 w 111"/>
                <a:gd name="T51" fmla="*/ 27 h 84"/>
                <a:gd name="T52" fmla="*/ 92 w 111"/>
                <a:gd name="T53" fmla="*/ 27 h 84"/>
                <a:gd name="T54" fmla="*/ 93 w 111"/>
                <a:gd name="T55" fmla="*/ 19 h 84"/>
                <a:gd name="T56" fmla="*/ 102 w 111"/>
                <a:gd name="T57" fmla="*/ 27 h 84"/>
                <a:gd name="T58" fmla="*/ 34 w 111"/>
                <a:gd name="T59" fmla="*/ 45 h 84"/>
                <a:gd name="T60" fmla="*/ 79 w 111"/>
                <a:gd name="T61" fmla="*/ 45 h 84"/>
                <a:gd name="T62" fmla="*/ 79 w 111"/>
                <a:gd name="T63" fmla="*/ 48 h 84"/>
                <a:gd name="T64" fmla="*/ 34 w 111"/>
                <a:gd name="T65" fmla="*/ 48 h 84"/>
                <a:gd name="T66" fmla="*/ 34 w 111"/>
                <a:gd name="T67" fmla="*/ 45 h 84"/>
                <a:gd name="T68" fmla="*/ 34 w 111"/>
                <a:gd name="T69" fmla="*/ 34 h 84"/>
                <a:gd name="T70" fmla="*/ 75 w 111"/>
                <a:gd name="T71" fmla="*/ 34 h 84"/>
                <a:gd name="T72" fmla="*/ 75 w 111"/>
                <a:gd name="T73" fmla="*/ 37 h 84"/>
                <a:gd name="T74" fmla="*/ 34 w 111"/>
                <a:gd name="T75" fmla="*/ 37 h 84"/>
                <a:gd name="T76" fmla="*/ 34 w 111"/>
                <a:gd name="T77" fmla="*/ 34 h 84"/>
                <a:gd name="T78" fmla="*/ 34 w 111"/>
                <a:gd name="T79" fmla="*/ 23 h 84"/>
                <a:gd name="T80" fmla="*/ 75 w 111"/>
                <a:gd name="T81" fmla="*/ 23 h 84"/>
                <a:gd name="T82" fmla="*/ 75 w 111"/>
                <a:gd name="T83" fmla="*/ 26 h 84"/>
                <a:gd name="T84" fmla="*/ 34 w 111"/>
                <a:gd name="T85" fmla="*/ 26 h 84"/>
                <a:gd name="T86" fmla="*/ 34 w 111"/>
                <a:gd name="T87" fmla="*/ 23 h 84"/>
                <a:gd name="T88" fmla="*/ 4 w 111"/>
                <a:gd name="T89" fmla="*/ 70 h 84"/>
                <a:gd name="T90" fmla="*/ 10 w 111"/>
                <a:gd name="T91" fmla="*/ 72 h 84"/>
                <a:gd name="T92" fmla="*/ 10 w 111"/>
                <a:gd name="T93" fmla="*/ 79 h 84"/>
                <a:gd name="T94" fmla="*/ 5 w 111"/>
                <a:gd name="T95" fmla="*/ 84 h 84"/>
                <a:gd name="T96" fmla="*/ 2 w 111"/>
                <a:gd name="T97" fmla="*/ 83 h 84"/>
                <a:gd name="T98" fmla="*/ 0 w 111"/>
                <a:gd name="T99" fmla="*/ 76 h 84"/>
                <a:gd name="T100" fmla="*/ 4 w 111"/>
                <a:gd name="T101" fmla="*/ 70 h 84"/>
                <a:gd name="T102" fmla="*/ 4 w 111"/>
                <a:gd name="T103" fmla="*/ 51 h 84"/>
                <a:gd name="T104" fmla="*/ 2 w 111"/>
                <a:gd name="T105" fmla="*/ 68 h 84"/>
                <a:gd name="T106" fmla="*/ 13 w 111"/>
                <a:gd name="T107" fmla="*/ 71 h 84"/>
                <a:gd name="T108" fmla="*/ 18 w 111"/>
                <a:gd name="T109" fmla="*/ 54 h 84"/>
                <a:gd name="T110" fmla="*/ 4 w 111"/>
                <a:gd name="T111" fmla="*/ 5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0" h="84">
                  <a:moveTo>
                    <a:pt x="17" y="2"/>
                  </a:moveTo>
                  <a:cubicBezTo>
                    <a:pt x="22" y="0"/>
                    <a:pt x="26" y="1"/>
                    <a:pt x="29" y="4"/>
                  </a:cubicBezTo>
                  <a:cubicBezTo>
                    <a:pt x="27" y="21"/>
                    <a:pt x="24" y="37"/>
                    <a:pt x="20" y="51"/>
                  </a:cubicBezTo>
                  <a:cubicBezTo>
                    <a:pt x="15" y="50"/>
                    <a:pt x="10" y="49"/>
                    <a:pt x="5" y="48"/>
                  </a:cubicBezTo>
                  <a:cubicBezTo>
                    <a:pt x="6" y="31"/>
                    <a:pt x="11" y="15"/>
                    <a:pt x="17" y="2"/>
                  </a:cubicBezTo>
                  <a:close/>
                  <a:moveTo>
                    <a:pt x="20" y="68"/>
                  </a:moveTo>
                  <a:cubicBezTo>
                    <a:pt x="17" y="76"/>
                    <a:pt x="17" y="76"/>
                    <a:pt x="17" y="76"/>
                  </a:cubicBezTo>
                  <a:cubicBezTo>
                    <a:pt x="74" y="76"/>
                    <a:pt x="80" y="76"/>
                    <a:pt x="107" y="76"/>
                  </a:cubicBezTo>
                  <a:cubicBezTo>
                    <a:pt x="111" y="76"/>
                    <a:pt x="111" y="76"/>
                    <a:pt x="111" y="76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3" y="12"/>
                    <a:pt x="33" y="15"/>
                    <a:pt x="33" y="17"/>
                  </a:cubicBezTo>
                  <a:cubicBezTo>
                    <a:pt x="89" y="17"/>
                    <a:pt x="89" y="17"/>
                    <a:pt x="89" y="17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31"/>
                    <a:pt x="88" y="31"/>
                    <a:pt x="88" y="31"/>
                  </a:cubicBezTo>
                  <a:cubicBezTo>
                    <a:pt x="90" y="31"/>
                    <a:pt x="90" y="31"/>
                    <a:pt x="90" y="31"/>
                  </a:cubicBezTo>
                  <a:cubicBezTo>
                    <a:pt x="104" y="31"/>
                    <a:pt x="104" y="31"/>
                    <a:pt x="104" y="31"/>
                  </a:cubicBezTo>
                  <a:cubicBezTo>
                    <a:pt x="104" y="68"/>
                    <a:pt x="104" y="68"/>
                    <a:pt x="104" y="68"/>
                  </a:cubicBezTo>
                  <a:cubicBezTo>
                    <a:pt x="84" y="68"/>
                    <a:pt x="61" y="68"/>
                    <a:pt x="20" y="68"/>
                  </a:cubicBezTo>
                  <a:close/>
                  <a:moveTo>
                    <a:pt x="102" y="27"/>
                  </a:moveTo>
                  <a:cubicBezTo>
                    <a:pt x="92" y="27"/>
                    <a:pt x="92" y="27"/>
                    <a:pt x="92" y="27"/>
                  </a:cubicBezTo>
                  <a:cubicBezTo>
                    <a:pt x="93" y="19"/>
                    <a:pt x="93" y="19"/>
                    <a:pt x="93" y="19"/>
                  </a:cubicBezTo>
                  <a:cubicBezTo>
                    <a:pt x="102" y="27"/>
                    <a:pt x="102" y="27"/>
                    <a:pt x="102" y="27"/>
                  </a:cubicBezTo>
                  <a:close/>
                  <a:moveTo>
                    <a:pt x="34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4" y="45"/>
                    <a:pt x="34" y="45"/>
                    <a:pt x="34" y="45"/>
                  </a:cubicBezTo>
                  <a:close/>
                  <a:moveTo>
                    <a:pt x="34" y="34"/>
                  </a:moveTo>
                  <a:cubicBezTo>
                    <a:pt x="75" y="34"/>
                    <a:pt x="75" y="34"/>
                    <a:pt x="75" y="3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4" y="34"/>
                    <a:pt x="34" y="34"/>
                    <a:pt x="34" y="34"/>
                  </a:cubicBezTo>
                  <a:close/>
                  <a:moveTo>
                    <a:pt x="34" y="23"/>
                  </a:moveTo>
                  <a:cubicBezTo>
                    <a:pt x="75" y="23"/>
                    <a:pt x="75" y="23"/>
                    <a:pt x="75" y="23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4" y="23"/>
                    <a:pt x="34" y="23"/>
                    <a:pt x="34" y="23"/>
                  </a:cubicBezTo>
                  <a:close/>
                  <a:moveTo>
                    <a:pt x="4" y="70"/>
                  </a:moveTo>
                  <a:cubicBezTo>
                    <a:pt x="10" y="72"/>
                    <a:pt x="10" y="72"/>
                    <a:pt x="10" y="72"/>
                  </a:cubicBezTo>
                  <a:cubicBezTo>
                    <a:pt x="10" y="79"/>
                    <a:pt x="10" y="79"/>
                    <a:pt x="10" y="79"/>
                  </a:cubicBezTo>
                  <a:cubicBezTo>
                    <a:pt x="5" y="84"/>
                    <a:pt x="5" y="84"/>
                    <a:pt x="5" y="84"/>
                  </a:cubicBezTo>
                  <a:cubicBezTo>
                    <a:pt x="4" y="84"/>
                    <a:pt x="3" y="83"/>
                    <a:pt x="2" y="83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4" y="70"/>
                    <a:pt x="4" y="70"/>
                    <a:pt x="4" y="70"/>
                  </a:cubicBezTo>
                  <a:close/>
                  <a:moveTo>
                    <a:pt x="4" y="51"/>
                  </a:moveTo>
                  <a:cubicBezTo>
                    <a:pt x="4" y="57"/>
                    <a:pt x="3" y="63"/>
                    <a:pt x="2" y="68"/>
                  </a:cubicBezTo>
                  <a:cubicBezTo>
                    <a:pt x="6" y="69"/>
                    <a:pt x="9" y="70"/>
                    <a:pt x="13" y="71"/>
                  </a:cubicBezTo>
                  <a:cubicBezTo>
                    <a:pt x="14" y="65"/>
                    <a:pt x="16" y="60"/>
                    <a:pt x="18" y="54"/>
                  </a:cubicBezTo>
                  <a:cubicBezTo>
                    <a:pt x="14" y="53"/>
                    <a:pt x="9" y="52"/>
                    <a:pt x="4" y="51"/>
                  </a:cubicBez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cxnSp>
        <p:nvCxnSpPr>
          <p:cNvPr id="3083" name="直接连接符 107"/>
          <p:cNvCxnSpPr/>
          <p:nvPr/>
        </p:nvCxnSpPr>
        <p:spPr>
          <a:xfrm flipH="1">
            <a:off x="5534025" y="3099990"/>
            <a:ext cx="1055688" cy="0"/>
          </a:xfrm>
          <a:prstGeom prst="line">
            <a:avLst/>
          </a:prstGeom>
          <a:noFill/>
          <a:ln w="19050">
            <a:solidFill>
              <a:srgbClr val="3B3838"/>
            </a:solidFill>
            <a:prstDash val="sysDot"/>
            <a:miter lim="800000"/>
            <a:headEnd type="oval"/>
            <a:tailEnd type="oval"/>
          </a:ln>
        </p:spPr>
      </p:cxnSp>
      <p:cxnSp>
        <p:nvCxnSpPr>
          <p:cNvPr id="3084" name="直接连接符 132"/>
          <p:cNvCxnSpPr/>
          <p:nvPr/>
        </p:nvCxnSpPr>
        <p:spPr>
          <a:xfrm flipH="1">
            <a:off x="5534025" y="4856783"/>
            <a:ext cx="1055688" cy="0"/>
          </a:xfrm>
          <a:prstGeom prst="line">
            <a:avLst/>
          </a:prstGeom>
          <a:noFill/>
          <a:ln w="19050">
            <a:solidFill>
              <a:srgbClr val="3B3838"/>
            </a:solidFill>
            <a:prstDash val="sysDot"/>
            <a:miter lim="800000"/>
            <a:headEnd type="oval"/>
            <a:tailEnd type="oval"/>
          </a:ln>
        </p:spPr>
      </p:cxnSp>
      <p:sp>
        <p:nvSpPr>
          <p:cNvPr id="3086" name="文本框 6"/>
          <p:cNvSpPr txBox="1"/>
          <p:nvPr/>
        </p:nvSpPr>
        <p:spPr>
          <a:xfrm>
            <a:off x="2743200" y="988145"/>
            <a:ext cx="6688138" cy="923925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r>
              <a:rPr lang="zh-CN" altLang="en-US" sz="5400" b="1" dirty="0">
                <a:solidFill>
                  <a:srgbClr val="04487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目录</a:t>
            </a:r>
            <a:endParaRPr lang="zh-CN" altLang="en-US" sz="5400" b="1" dirty="0">
              <a:solidFill>
                <a:srgbClr val="04487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090" name="直接连接符 156"/>
          <p:cNvCxnSpPr/>
          <p:nvPr/>
        </p:nvCxnSpPr>
        <p:spPr>
          <a:xfrm flipV="1">
            <a:off x="3700463" y="1916832"/>
            <a:ext cx="4773612" cy="0"/>
          </a:xfrm>
          <a:prstGeom prst="line">
            <a:avLst/>
          </a:prstGeom>
          <a:noFill/>
          <a:ln w="25400">
            <a:solidFill>
              <a:srgbClr val="044875"/>
            </a:solidFill>
            <a:miter lim="800000"/>
          </a:ln>
        </p:spPr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5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5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5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5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5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animBg="1"/>
      <p:bldP spid="3076" grpId="0" animBg="1"/>
      <p:bldP spid="308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4"/>
          <p:cNvSpPr/>
          <p:nvPr/>
        </p:nvSpPr>
        <p:spPr>
          <a:xfrm>
            <a:off x="0" y="2014538"/>
            <a:ext cx="12192000" cy="28495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099" name="矩形 5"/>
          <p:cNvSpPr/>
          <p:nvPr/>
        </p:nvSpPr>
        <p:spPr>
          <a:xfrm>
            <a:off x="0" y="2663825"/>
            <a:ext cx="1096963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100" name="文本框 7"/>
          <p:cNvSpPr/>
          <p:nvPr/>
        </p:nvSpPr>
        <p:spPr>
          <a:xfrm>
            <a:off x="946150" y="2000250"/>
            <a:ext cx="1539875" cy="186213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lvl1pPr marL="228600" indent="-228600" algn="l" defTabSz="9144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4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500">
                <a:solidFill>
                  <a:schemeClr val="bg1"/>
                </a:solidFill>
                <a:latin typeface="Impact" panose="020B0806030902050204" pitchFamily="34" charset="0"/>
              </a:rPr>
              <a:t>1</a:t>
            </a:r>
            <a:endParaRPr lang="zh-CN" altLang="en-US" sz="115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101" name="文本框 8"/>
          <p:cNvSpPr/>
          <p:nvPr/>
        </p:nvSpPr>
        <p:spPr>
          <a:xfrm>
            <a:off x="419100" y="2638425"/>
            <a:ext cx="571500" cy="5857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lvl1pPr marL="228600" indent="-228600" algn="l" defTabSz="9144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4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endParaRPr lang="zh-CN" altLang="en-US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02" name="矩形 9"/>
          <p:cNvSpPr/>
          <p:nvPr/>
        </p:nvSpPr>
        <p:spPr>
          <a:xfrm>
            <a:off x="2498725" y="2663825"/>
            <a:ext cx="9693275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103" name="文本框 10"/>
          <p:cNvSpPr/>
          <p:nvPr/>
        </p:nvSpPr>
        <p:spPr>
          <a:xfrm>
            <a:off x="2525713" y="2638425"/>
            <a:ext cx="1766887" cy="5857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lvl1pPr marL="228600" indent="-228600" algn="l" defTabSz="9144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4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04" name="文本框 11"/>
          <p:cNvSpPr/>
          <p:nvPr/>
        </p:nvSpPr>
        <p:spPr>
          <a:xfrm>
            <a:off x="6791325" y="3632200"/>
            <a:ext cx="5727700" cy="83099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lvl1pPr marL="228600" indent="-228600" algn="l" defTabSz="9144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4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nimBg="1"/>
      <p:bldP spid="4099" grpId="0" animBg="1"/>
      <p:bldP spid="4100" grpId="0"/>
      <p:bldP spid="4101" grpId="0"/>
      <p:bldP spid="4102" grpId="0" animBg="1"/>
      <p:bldP spid="4103" grpId="0"/>
      <p:bldP spid="410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问题描述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>
                  <a:solidFill>
                    <a:srgbClr val="3B3838"/>
                  </a:solidFill>
                  <a:latin typeface="Impact" panose="020B0806030902050204" pitchFamily="34" charset="0"/>
                </a:rPr>
                <a:t>01</a:t>
              </a:r>
              <a:endParaRPr lang="zh-CN" altLang="en-US" sz="320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3054" y="1196752"/>
            <a:ext cx="5902946" cy="4272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050"/>
              </a:spcBef>
              <a:spcAft>
                <a:spcPts val="600"/>
              </a:spcAft>
              <a:buNone/>
            </a:pPr>
            <a:r>
              <a:rPr lang="en-US" altLang="zh-CN" sz="2400" b="1" i="0" dirty="0">
                <a:solidFill>
                  <a:srgbClr val="05073B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400" b="1" i="0" dirty="0">
                <a:solidFill>
                  <a:srgbClr val="05073B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研究背景与动机</a:t>
            </a:r>
            <a:endParaRPr lang="zh-CN" altLang="en-US" sz="2400" b="1" i="0" dirty="0">
              <a:solidFill>
                <a:srgbClr val="05073B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l">
              <a:spcBef>
                <a:spcPts val="1050"/>
              </a:spcBef>
              <a:buFont typeface="Wingdings" panose="05000000000000000000" pitchFamily="2" charset="2"/>
              <a:buChar char="Ø"/>
            </a:pPr>
            <a:r>
              <a:rPr lang="zh-CN" altLang="en-US" sz="2400" b="1" i="0" dirty="0">
                <a:solidFill>
                  <a:srgbClr val="06071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行业痛点</a:t>
            </a:r>
            <a:r>
              <a:rPr lang="zh-CN" altLang="en-US" sz="2400" b="0" i="0" dirty="0">
                <a:solidFill>
                  <a:srgbClr val="06071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sz="2400" b="0" i="0" dirty="0">
              <a:solidFill>
                <a:srgbClr val="06071F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 algn="l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06071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房价受多重因素影响（面积、位置、房龄等），传统经验定价缺乏量化依据</a:t>
            </a:r>
            <a:endParaRPr lang="zh-CN" altLang="en-US" sz="2400" b="0" i="0" dirty="0">
              <a:solidFill>
                <a:srgbClr val="06071F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06071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购房者</a:t>
            </a:r>
            <a:r>
              <a:rPr lang="en-US" altLang="zh-CN" sz="2400" b="0" i="0" dirty="0">
                <a:solidFill>
                  <a:srgbClr val="06071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 b="0" i="0" dirty="0">
                <a:solidFill>
                  <a:srgbClr val="06071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投资者需科学评估房产价值，避免信息不对称风险</a:t>
            </a:r>
            <a:endParaRPr lang="zh-CN" altLang="en-US" sz="2400" b="0" i="0" dirty="0">
              <a:solidFill>
                <a:srgbClr val="06071F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06071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房地产企业需精准定价以优化库存与利润</a:t>
            </a:r>
            <a:endParaRPr lang="zh-CN" altLang="en-US" sz="2400" b="0" i="0" dirty="0">
              <a:solidFill>
                <a:srgbClr val="06071F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79976" y="928315"/>
            <a:ext cx="5902946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核心问题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spcBef>
                <a:spcPts val="105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目标：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构建线性回归模型，预测给定房屋特征下的市场价格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spcBef>
                <a:spcPts val="105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关键科学问题：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哪些特征对房价影响显著？如何量化其权重？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如何处理特征间的多重共线性（如面积与房间数）？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如何评估模型预测精度并优化泛化能力？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问题描述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>
                  <a:solidFill>
                    <a:srgbClr val="3B3838"/>
                  </a:solidFill>
                  <a:latin typeface="Impact" panose="020B0806030902050204" pitchFamily="34" charset="0"/>
                </a:rPr>
                <a:t>01</a:t>
              </a:r>
              <a:endParaRPr lang="zh-CN" altLang="en-US" sz="320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968734"/>
            <a:ext cx="6120409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  <a:buNone/>
            </a:pP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关键挑战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spcBef>
                <a:spcPts val="105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模型层面：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线性回归假设特征与房价呈线性关系，但实际可能存在非线性影响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特征重要性差异大（如“地段”可能为非线性强影响因素，但需简化处理）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spcBef>
                <a:spcPts val="105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业务层面：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模型需平衡预测精度与可解释性（避免“黑箱”决策）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动态市场环境下，模型需定期更新以适应价格波动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79976" y="928315"/>
            <a:ext cx="590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71244" y="846210"/>
            <a:ext cx="6120409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  <a:buNone/>
            </a:pP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研究价值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spcBef>
                <a:spcPts val="105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学术意义：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验证线性回归在复杂非线性问题中的适用性边界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spcBef>
                <a:spcPts val="105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应用价值：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为购房者提供房价参考基准，降低决策成本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辅助金融机构评估房产抵押价值，控制信贷风险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支持政府制定房地产调控政策，监测市场异常波动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问题描述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>
                  <a:solidFill>
                    <a:srgbClr val="3B3838"/>
                  </a:solidFill>
                  <a:latin typeface="Impact" panose="020B0806030902050204" pitchFamily="34" charset="0"/>
                </a:rPr>
                <a:t>01</a:t>
              </a:r>
              <a:endParaRPr lang="zh-CN" altLang="en-US" sz="320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376" y="1124744"/>
            <a:ext cx="12169352" cy="450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Bef>
                <a:spcPts val="1050"/>
              </a:spcBef>
              <a:spcAft>
                <a:spcPts val="600"/>
              </a:spcAft>
              <a:buNone/>
            </a:pPr>
            <a:r>
              <a:rPr lang="en-US" altLang="zh-CN" sz="2400" b="1" i="0" dirty="0">
                <a:solidFill>
                  <a:srgbClr val="05073B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400" b="1" i="0" dirty="0">
                <a:solidFill>
                  <a:srgbClr val="05073B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研究背景与动机</a:t>
            </a:r>
            <a:endParaRPr lang="zh-CN" altLang="en-US" sz="2400" b="1" i="0" dirty="0">
              <a:solidFill>
                <a:srgbClr val="05073B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spcBef>
                <a:spcPts val="1050"/>
              </a:spcBef>
              <a:buFont typeface="Wingdings" panose="05000000000000000000" pitchFamily="2" charset="2"/>
              <a:buChar char="Ø"/>
            </a:pPr>
            <a:r>
              <a:rPr lang="zh-CN" altLang="en-US" sz="2400" b="1" i="0" dirty="0">
                <a:solidFill>
                  <a:srgbClr val="06071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行业痛点</a:t>
            </a:r>
            <a:r>
              <a:rPr lang="zh-CN" altLang="en-US" sz="2400" b="0" i="0" dirty="0">
                <a:solidFill>
                  <a:srgbClr val="06071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sz="2400" b="0" i="0" dirty="0">
              <a:solidFill>
                <a:srgbClr val="06071F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00150" lvl="2" indent="-285750">
              <a:lnSpc>
                <a:spcPct val="200000"/>
              </a:lnSpc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06071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房价受多重因素影响（面积、位置、房龄等），传统经验定价缺乏量化依据</a:t>
            </a:r>
            <a:endParaRPr lang="zh-CN" altLang="en-US" sz="2400" b="0" i="0" dirty="0">
              <a:solidFill>
                <a:srgbClr val="06071F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00150" lvl="2" indent="-285750">
              <a:lnSpc>
                <a:spcPct val="20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06071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购房者</a:t>
            </a:r>
            <a:r>
              <a:rPr lang="en-US" altLang="zh-CN" sz="2400" b="0" i="0" dirty="0">
                <a:solidFill>
                  <a:srgbClr val="06071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 b="0" i="0" dirty="0">
                <a:solidFill>
                  <a:srgbClr val="06071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投资者需科学评估房产价值，避免信息不对称风险</a:t>
            </a:r>
            <a:endParaRPr lang="zh-CN" altLang="en-US" sz="2400" b="0" i="0" dirty="0">
              <a:solidFill>
                <a:srgbClr val="06071F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00150" lvl="2" indent="-285750">
              <a:lnSpc>
                <a:spcPct val="20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06071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房地产企业需精准定价以优化库存与利润</a:t>
            </a:r>
            <a:endParaRPr lang="zh-CN" altLang="en-US" sz="2400" b="0" i="0" dirty="0">
              <a:solidFill>
                <a:srgbClr val="06071F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问题描述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>
                  <a:solidFill>
                    <a:srgbClr val="3B3838"/>
                  </a:solidFill>
                  <a:latin typeface="Impact" panose="020B0806030902050204" pitchFamily="34" charset="0"/>
                </a:rPr>
                <a:t>01</a:t>
              </a:r>
              <a:endParaRPr lang="zh-CN" altLang="en-US" sz="320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55440" y="811437"/>
            <a:ext cx="10871498" cy="4730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  <a:spcBef>
                <a:spcPts val="1050"/>
              </a:spcBef>
            </a:pP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核心问题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spcBef>
                <a:spcPts val="105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目标：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657350" lvl="3" indent="-285750">
              <a:lnSpc>
                <a:spcPct val="150000"/>
              </a:lnSpc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构建线性回归模型，预测给定房屋特征下的市场价格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spcBef>
                <a:spcPts val="105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关键科学问题：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657350" lvl="3" indent="-285750">
              <a:lnSpc>
                <a:spcPct val="150000"/>
              </a:lnSpc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哪些特征对房价影响显著？如何量化其权重？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657350" lvl="3" indent="-285750">
              <a:lnSpc>
                <a:spcPct val="150000"/>
              </a:lnSpc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如何处理特征间的多重共线性（如面积与房间数）？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657350" lvl="3" indent="-285750">
              <a:lnSpc>
                <a:spcPct val="150000"/>
              </a:lnSpc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如何评估模型预测精度并优化泛化能力？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问题描述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>
                  <a:solidFill>
                    <a:srgbClr val="3B3838"/>
                  </a:solidFill>
                  <a:latin typeface="Impact" panose="020B0806030902050204" pitchFamily="34" charset="0"/>
                </a:rPr>
                <a:t>01</a:t>
              </a:r>
              <a:endParaRPr lang="zh-CN" altLang="en-US" sz="320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1344" y="806282"/>
            <a:ext cx="11640616" cy="5284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  <a:spcBef>
                <a:spcPts val="1050"/>
              </a:spcBef>
              <a:buNone/>
            </a:pP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关键挑战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spcBef>
                <a:spcPts val="105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模型层面：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657350" lvl="3" indent="-285750">
              <a:lnSpc>
                <a:spcPct val="150000"/>
              </a:lnSpc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线性回归假设特征与房价呈线性关系，但实际可能存在非线性影响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657350" lvl="3" indent="-285750">
              <a:lnSpc>
                <a:spcPct val="150000"/>
              </a:lnSpc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特征重要性差异大（如“地段”可为非线性强影响因素，但需简化处理）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spcBef>
                <a:spcPts val="105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业务层面：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657350" lvl="3" indent="-285750">
              <a:lnSpc>
                <a:spcPct val="150000"/>
              </a:lnSpc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模型需平衡预测精度与可解释性（避免“黑箱”决策）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657350" lvl="3" indent="-285750">
              <a:lnSpc>
                <a:spcPct val="150000"/>
              </a:lnSpc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动态市场环境下，模型需定期更新以适应价格波动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79976" y="928315"/>
            <a:ext cx="590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问题描述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>
                  <a:solidFill>
                    <a:srgbClr val="3B3838"/>
                  </a:solidFill>
                  <a:latin typeface="Impact" panose="020B0806030902050204" pitchFamily="34" charset="0"/>
                </a:rPr>
                <a:t>01</a:t>
              </a:r>
              <a:endParaRPr lang="zh-CN" altLang="en-US" sz="320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79976" y="928315"/>
            <a:ext cx="590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50765" y="968734"/>
            <a:ext cx="10332157" cy="4730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  <a:spcBef>
                <a:spcPts val="1050"/>
              </a:spcBef>
              <a:buNone/>
            </a:pP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研究价值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spcBef>
                <a:spcPts val="105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学术意义：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657350" lvl="3" indent="-285750">
              <a:lnSpc>
                <a:spcPct val="150000"/>
              </a:lnSpc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验证线性回归在复杂非线性问题中的适用性边界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spcBef>
                <a:spcPts val="105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应用价值：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657350" lvl="3" indent="-285750">
              <a:lnSpc>
                <a:spcPct val="150000"/>
              </a:lnSpc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为购房者提供房价参考基准，降低决策成本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657350" lvl="3" indent="-285750">
              <a:lnSpc>
                <a:spcPct val="150000"/>
              </a:lnSpc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辅助金融机构评估房产抵押价值，控制信贷风险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657350" lvl="3" indent="-285750">
              <a:lnSpc>
                <a:spcPct val="150000"/>
              </a:lnSpc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支持政府制定房地产调控政策，监测市场异常波动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/>
          <p:nvPr/>
        </p:nvSpPr>
        <p:spPr>
          <a:xfrm>
            <a:off x="0" y="2014538"/>
            <a:ext cx="12192000" cy="28495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171" name="矩形 2"/>
          <p:cNvSpPr/>
          <p:nvPr/>
        </p:nvSpPr>
        <p:spPr>
          <a:xfrm>
            <a:off x="0" y="2663825"/>
            <a:ext cx="1096963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172" name="文本框 3"/>
          <p:cNvSpPr/>
          <p:nvPr/>
        </p:nvSpPr>
        <p:spPr>
          <a:xfrm>
            <a:off x="946150" y="2000250"/>
            <a:ext cx="1539875" cy="186213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lvl1pPr marL="228600" indent="-228600" algn="l" defTabSz="9144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4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500">
                <a:solidFill>
                  <a:schemeClr val="bg1"/>
                </a:solidFill>
                <a:latin typeface="Impact" panose="020B0806030902050204" pitchFamily="34" charset="0"/>
              </a:rPr>
              <a:t>2</a:t>
            </a:r>
            <a:endParaRPr lang="zh-CN" altLang="en-US" sz="115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7173" name="文本框 4"/>
          <p:cNvSpPr/>
          <p:nvPr/>
        </p:nvSpPr>
        <p:spPr>
          <a:xfrm>
            <a:off x="419100" y="2638425"/>
            <a:ext cx="571500" cy="5857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lvl1pPr marL="228600" indent="-228600" algn="l" defTabSz="9144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4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endParaRPr lang="zh-CN" altLang="en-US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4" name="矩形 5"/>
          <p:cNvSpPr/>
          <p:nvPr/>
        </p:nvSpPr>
        <p:spPr>
          <a:xfrm>
            <a:off x="2498725" y="2663825"/>
            <a:ext cx="9693275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175" name="文本框 6"/>
          <p:cNvSpPr/>
          <p:nvPr/>
        </p:nvSpPr>
        <p:spPr>
          <a:xfrm>
            <a:off x="2525713" y="2638425"/>
            <a:ext cx="1766887" cy="5857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lvl1pPr marL="228600" indent="-228600" algn="l" defTabSz="9144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4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6" name="文本框 7"/>
          <p:cNvSpPr/>
          <p:nvPr/>
        </p:nvSpPr>
        <p:spPr>
          <a:xfrm>
            <a:off x="6791325" y="3632200"/>
            <a:ext cx="5727700" cy="83099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lvl1pPr marL="228600" indent="-228600" algn="l" defTabSz="9144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4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系统设计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nimBg="1"/>
      <p:bldP spid="7171" grpId="0" animBg="1"/>
      <p:bldP spid="7172" grpId="0"/>
      <p:bldP spid="7173" grpId="0"/>
      <p:bldP spid="7174" grpId="0" animBg="1"/>
      <p:bldP spid="7175" grpId="0"/>
      <p:bldP spid="717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系统设计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79976" y="928315"/>
            <a:ext cx="590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55440" y="770661"/>
            <a:ext cx="10332157" cy="559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250000"/>
              </a:lnSpc>
              <a:spcBef>
                <a:spcPts val="1050"/>
              </a:spcBef>
            </a:pP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调用的</a:t>
            </a: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python</a:t>
            </a:r>
            <a:r>
              <a:rPr lang="zh-CN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库</a:t>
            </a:r>
            <a:endParaRPr lang="en-US" altLang="zh-CN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numpy</a:t>
            </a:r>
            <a:r>
              <a:rPr lang="zh-CN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库</a:t>
            </a:r>
            <a:endParaRPr lang="zh-CN" altLang="zh-CN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pandas</a:t>
            </a:r>
            <a:r>
              <a:rPr lang="zh-CN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库</a:t>
            </a:r>
            <a:endParaRPr lang="zh-CN" altLang="zh-CN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matplotlib.pyplot</a:t>
            </a:r>
            <a:r>
              <a:rPr lang="zh-CN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库</a:t>
            </a:r>
            <a:endParaRPr lang="zh-CN" altLang="zh-CN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seaborn</a:t>
            </a:r>
            <a:r>
              <a:rPr lang="zh-CN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库</a:t>
            </a:r>
            <a:endParaRPr lang="zh-CN" altLang="zh-CN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250000"/>
              </a:lnSpc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系统设计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79976" y="928315"/>
            <a:ext cx="590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9490" y="634121"/>
            <a:ext cx="11593288" cy="6488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调用的</a:t>
            </a: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python</a:t>
            </a:r>
            <a:r>
              <a:rPr lang="zh-CN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库</a:t>
            </a:r>
            <a:endParaRPr lang="en-US" altLang="zh-CN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spcBef>
                <a:spcPts val="105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NumPy 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库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📌 定位：科学计算基础库，</a:t>
            </a: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Python 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数值计算的“引擎”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🔑 核心功能：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多维数组（</a:t>
            </a:r>
            <a:r>
              <a:rPr lang="en-US" altLang="zh-CN" sz="2400" dirty="0" err="1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ndarray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）：高效存储和操作数值数据（如房价、面积等特征矩阵）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向量化运算：替代循环，加速计算（如批量计算房屋单价）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线性代数支持：矩阵分解、特征值计算（为线性回归模型提供底层支持）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🚀 房价预测场景价值：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快速处理大规模房屋特征数据（如 </a:t>
            </a: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 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万</a:t>
            </a: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样本的数值计算）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为后续模型（如 </a:t>
            </a:r>
            <a:r>
              <a:rPr lang="en-US" altLang="zh-CN" sz="2400" dirty="0" err="1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sklearn.LinearRegression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）提供高效数值输入</a:t>
            </a:r>
            <a:endParaRPr lang="en-US" altLang="zh-CN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系统设计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79976" y="928315"/>
            <a:ext cx="590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9078" y="671802"/>
            <a:ext cx="11593288" cy="5283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spcBef>
                <a:spcPts val="1050"/>
              </a:spcBef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Pandas 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库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📌 定位：数据分析“瑞士军刀”，专治表格型数据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🔑 核心功能：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r>
              <a:rPr lang="en-US" altLang="zh-CN" sz="2400" dirty="0" err="1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DataFrame</a:t>
            </a: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数据结构：类似 </a:t>
            </a: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Excel 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表格，支持行列操作（如房价数据清洗）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缺失值处理：填充</a:t>
            </a: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删除无效数据（如房龄字段缺失值）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数据聚合与分组：按区域统计房价均值</a:t>
            </a:r>
            <a:endParaRPr lang="en-US" altLang="zh-CN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🚀 房价预测场景价值：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快速完成数据预处理（缺失值、异常值、编码分类变量）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生成特征工程结果（如计算“每平米单价”作为新特征）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系统设计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79976" y="928315"/>
            <a:ext cx="590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2813" y="647236"/>
            <a:ext cx="11593288" cy="5468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spcBef>
                <a:spcPts val="1050"/>
              </a:spcBef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Matplotlib.pyplot</a:t>
            </a: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库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📌 定位：</a:t>
            </a: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Python 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基础可视化工具，数据探索的“显微镜”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🔑 核心功能：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折线图</a:t>
            </a: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散点图：观察房价与特征的关系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子图布局：多图对比（如不同区域房价分布）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样式定制：调整颜色、标签、标题（提升图表可读性）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🚀 房价预测场景价值：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直观验证线性回归假设（如散点图是否呈线性分布）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展示模型结果（如预测值 </a:t>
            </a: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vs 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真实值的对比折线图）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系统设计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79976" y="928315"/>
            <a:ext cx="590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9078" y="671802"/>
            <a:ext cx="11593288" cy="5468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spcBef>
                <a:spcPts val="1050"/>
              </a:spcBef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Seaborn 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库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📌 定位：基于 </a:t>
            </a: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Matplotlib 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的高级可视化库，数据故事的“画师”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🔑 核心功能：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统计图表：自动计算并绘制回归线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多变量关系：热力图展示特征相关性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分类数据可视化：箱线图</a:t>
            </a:r>
            <a:endParaRPr lang="en-US" altLang="zh-CN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🚀 房价预测场景价值：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快速发现关键特征（如通过热力图锁定“面积”与“价格”强相关）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生成专业级报告图表（如论文</a:t>
            </a: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商业分析中的美观图形）</a:t>
            </a: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系统设计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79976" y="928315"/>
            <a:ext cx="590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82980" y="634365"/>
            <a:ext cx="4011930" cy="354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数据结构设计</a:t>
            </a:r>
            <a:endParaRPr lang="zh-CN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三大模块：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2">
              <a:spcBef>
                <a:spcPts val="1050"/>
              </a:spcBef>
            </a:pPr>
            <a:r>
              <a:rPr lang="en-US" altLang="zh-CN" sz="2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1.</a:t>
            </a:r>
            <a:r>
              <a:rPr lang="zh-CN" altLang="zh-CN" sz="2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数据处理与数据分析</a:t>
            </a:r>
            <a:endParaRPr lang="zh-CN" altLang="zh-CN" sz="2000" b="1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0" lvl="2">
              <a:spcBef>
                <a:spcPts val="1050"/>
              </a:spcBef>
            </a:pPr>
            <a:r>
              <a:rPr lang="en-US" altLang="zh-CN" sz="2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2.</a:t>
            </a:r>
            <a:r>
              <a:rPr lang="zh-CN" altLang="zh-CN" sz="2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可视化数据分析</a:t>
            </a:r>
            <a:endParaRPr lang="zh-CN" altLang="zh-CN" sz="2000" b="1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0" lvl="2">
              <a:spcBef>
                <a:spcPts val="1050"/>
              </a:spcBef>
            </a:pPr>
            <a:r>
              <a:rPr lang="en-US" altLang="zh-CN" sz="2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3.</a:t>
            </a:r>
            <a:r>
              <a:rPr lang="zh-CN" altLang="en-US" sz="2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线性回归模型建立</a:t>
            </a:r>
            <a:endParaRPr lang="zh-CN" altLang="zh-CN" sz="20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endParaRPr lang="en-US" altLang="zh-CN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1810" y="1268730"/>
            <a:ext cx="591883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七个步骤：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、读取数据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、评估数据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、清洗数据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、整理数据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5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、可视化数据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6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、统计数据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7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、预测数据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系统设计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79976" y="928315"/>
            <a:ext cx="590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82980" y="634365"/>
            <a:ext cx="4011930" cy="1652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数据结构设计</a:t>
            </a:r>
            <a:endParaRPr lang="zh-CN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endParaRPr lang="en-US" altLang="zh-CN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280" y="1341120"/>
            <a:ext cx="1955165" cy="491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、读取数据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11225" y="1917065"/>
            <a:ext cx="9669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使用</a:t>
            </a:r>
            <a:r>
              <a:rPr lang="en-US" altLang="zh-CN"/>
              <a:t>pandas</a:t>
            </a:r>
            <a:r>
              <a:rPr lang="zh-CN" altLang="en-US"/>
              <a:t>库里的</a:t>
            </a:r>
            <a:r>
              <a:rPr lang="en-US" altLang="zh-CN">
                <a:solidFill>
                  <a:srgbClr val="FF0000"/>
                </a:solidFill>
              </a:rPr>
              <a:t>read_csv()</a:t>
            </a:r>
            <a:r>
              <a:rPr lang="zh-CN" altLang="en-US"/>
              <a:t>对</a:t>
            </a:r>
            <a:r>
              <a:rPr lang="en-US" altLang="zh-CN"/>
              <a:t>csv</a:t>
            </a:r>
            <a:r>
              <a:rPr lang="zh-CN" altLang="en-US"/>
              <a:t>格式的数据集直接进行读取，保存为</a:t>
            </a:r>
            <a:r>
              <a:rPr lang="en-US" altLang="zh-CN"/>
              <a:t>DataFrame</a:t>
            </a:r>
            <a:r>
              <a:rPr lang="zh-CN" altLang="en-US"/>
              <a:t>形式的表格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35280" y="2369820"/>
            <a:ext cx="1955165" cy="491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、评估数据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5485" y="2925445"/>
            <a:ext cx="1067435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利用</a:t>
            </a:r>
            <a:r>
              <a:rPr lang="en-US" altLang="zh-CN" b="1"/>
              <a:t>pandas</a:t>
            </a:r>
            <a:r>
              <a:rPr lang="zh-CN" altLang="en-US" b="1"/>
              <a:t>库中这些函数快速评估数据是否干净整齐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>
                <a:solidFill>
                  <a:srgbClr val="FF0000"/>
                </a:solidFill>
              </a:rPr>
              <a:t>head()</a:t>
            </a:r>
            <a:r>
              <a:rPr lang="zh-CN" altLang="en-US">
                <a:solidFill>
                  <a:srgbClr val="FF0000"/>
                </a:solidFill>
              </a:rPr>
              <a:t>：返回数据框的前几行，默认是前</a:t>
            </a:r>
            <a:r>
              <a:rPr lang="en-US" altLang="zh-CN">
                <a:solidFill>
                  <a:srgbClr val="FF0000"/>
                </a:solidFill>
              </a:rPr>
              <a:t> 5 </a:t>
            </a:r>
            <a:r>
              <a:rPr lang="zh-CN" altLang="en-US">
                <a:solidFill>
                  <a:srgbClr val="FF0000"/>
                </a:solidFill>
              </a:rPr>
              <a:t>行，用于快速预览数据。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>
                <a:solidFill>
                  <a:srgbClr val="FF0000"/>
                </a:solidFill>
              </a:rPr>
              <a:t>tail()</a:t>
            </a:r>
            <a:r>
              <a:rPr lang="zh-CN" altLang="en-US">
                <a:solidFill>
                  <a:srgbClr val="FF0000"/>
                </a:solidFill>
              </a:rPr>
              <a:t>：返回数据框的后几行，默认是后</a:t>
            </a:r>
            <a:r>
              <a:rPr lang="en-US" altLang="zh-CN">
                <a:solidFill>
                  <a:srgbClr val="FF0000"/>
                </a:solidFill>
              </a:rPr>
              <a:t> 5 </a:t>
            </a:r>
            <a:r>
              <a:rPr lang="zh-CN" altLang="en-US">
                <a:solidFill>
                  <a:srgbClr val="FF0000"/>
                </a:solidFill>
              </a:rPr>
              <a:t>行，用于查看数据结尾部分。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>
                <a:solidFill>
                  <a:srgbClr val="FF0000"/>
                </a:solidFill>
              </a:rPr>
              <a:t>sample()</a:t>
            </a:r>
            <a:r>
              <a:rPr lang="zh-CN" altLang="en-US">
                <a:solidFill>
                  <a:srgbClr val="FF0000"/>
                </a:solidFill>
              </a:rPr>
              <a:t>：从数据框中随机抽取指定数量或比例的样本。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>
                <a:solidFill>
                  <a:srgbClr val="FF0000"/>
                </a:solidFill>
              </a:rPr>
              <a:t>info()</a:t>
            </a:r>
            <a:r>
              <a:rPr lang="zh-CN" altLang="en-US">
                <a:solidFill>
                  <a:srgbClr val="FF0000"/>
                </a:solidFill>
              </a:rPr>
              <a:t>：提供数据框的基本信息，包括列的数据类型、非空值数量和内存使用等。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>
                <a:solidFill>
                  <a:srgbClr val="FF0000"/>
                </a:solidFill>
              </a:rPr>
              <a:t>isnull()</a:t>
            </a:r>
            <a:r>
              <a:rPr lang="zh-CN" altLang="en-US">
                <a:solidFill>
                  <a:srgbClr val="FF0000"/>
                </a:solidFill>
              </a:rPr>
              <a:t>：检查数据框中的每个元素是否为缺失值，返回布尔值数据框。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>
                <a:solidFill>
                  <a:srgbClr val="FF0000"/>
                </a:solidFill>
              </a:rPr>
              <a:t>duplicated()</a:t>
            </a:r>
            <a:r>
              <a:rPr lang="zh-CN" altLang="en-US">
                <a:solidFill>
                  <a:srgbClr val="FF0000"/>
                </a:solidFill>
              </a:rPr>
              <a:t>：检测数据框中的重复行，返回布尔值表示每行是否重复。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>
                <a:solidFill>
                  <a:srgbClr val="FF0000"/>
                </a:solidFill>
              </a:rPr>
              <a:t>value_counts()</a:t>
            </a:r>
            <a:r>
              <a:rPr lang="zh-CN" altLang="en-US">
                <a:solidFill>
                  <a:srgbClr val="FF0000"/>
                </a:solidFill>
              </a:rPr>
              <a:t>：计算指定列中每个唯一值出现的次数。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>
                <a:solidFill>
                  <a:schemeClr val="tx1"/>
                </a:solidFill>
              </a:rPr>
              <a:t>sort_values()</a:t>
            </a:r>
            <a:r>
              <a:rPr lang="zh-CN" altLang="en-US">
                <a:solidFill>
                  <a:schemeClr val="tx1"/>
                </a:solidFill>
              </a:rPr>
              <a:t>：按照指定的列对数据框进行排序。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>
                <a:solidFill>
                  <a:srgbClr val="FF0000"/>
                </a:solidFill>
              </a:rPr>
              <a:t>describe()</a:t>
            </a:r>
            <a:r>
              <a:rPr lang="zh-CN" altLang="en-US">
                <a:solidFill>
                  <a:srgbClr val="FF0000"/>
                </a:solidFill>
              </a:rPr>
              <a:t>：生成数据框的描述性统计信息，包括计数、均值、标准差、最小值、四分位数、最大值等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ldLvl="0" animBg="1"/>
      <p:bldP spid="5125" grpId="0" bldLvl="0" animBg="1"/>
      <p:bldP spid="5128" grpId="0" bldLvl="0" animBg="1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系统设计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79976" y="928315"/>
            <a:ext cx="590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82980" y="634365"/>
            <a:ext cx="4011930" cy="1652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数据结构设计</a:t>
            </a:r>
            <a:endParaRPr lang="zh-CN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endParaRPr lang="en-US" altLang="zh-CN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280" y="1341120"/>
            <a:ext cx="1955165" cy="491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、清洗数据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95325" y="1826260"/>
            <a:ext cx="1135888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利用</a:t>
            </a:r>
            <a:r>
              <a:rPr lang="en-US" altLang="zh-CN" b="1"/>
              <a:t>pandas</a:t>
            </a:r>
            <a:r>
              <a:rPr lang="zh-CN" altLang="en-US" b="1"/>
              <a:t>库中这些函数对之前数据评估时发现的问题进行清洗纠正（依习惯有时也可以与第二步同时进行）</a:t>
            </a:r>
            <a:endParaRPr lang="zh-CN" altLang="en-US" b="1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>
                <a:solidFill>
                  <a:srgbClr val="FF0000"/>
                </a:solidFill>
              </a:rPr>
              <a:t>rename()</a:t>
            </a:r>
            <a:r>
              <a:rPr lang="zh-CN" altLang="en-US">
                <a:solidFill>
                  <a:srgbClr val="FF0000"/>
                </a:solidFill>
              </a:rPr>
              <a:t>：用于修改</a:t>
            </a:r>
            <a:r>
              <a:rPr lang="en-US" altLang="zh-CN">
                <a:solidFill>
                  <a:srgbClr val="FF0000"/>
                </a:solidFill>
              </a:rPr>
              <a:t> DataFrame </a:t>
            </a:r>
            <a:r>
              <a:rPr lang="zh-CN" altLang="en-US">
                <a:solidFill>
                  <a:srgbClr val="FF0000"/>
                </a:solidFill>
              </a:rPr>
              <a:t>的列名或索引名。可通过字典映射新旧名称，灵活更改指定部分的名称。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set_index()</a:t>
            </a:r>
            <a:r>
              <a:rPr lang="zh-CN" altLang="en-US"/>
              <a:t>：将</a:t>
            </a:r>
            <a:r>
              <a:rPr lang="en-US" altLang="zh-CN"/>
              <a:t> DataFrame </a:t>
            </a:r>
            <a:r>
              <a:rPr lang="zh-CN" altLang="en-US"/>
              <a:t>中的指定列设置为索引，让该列成为数据的新索引标识，便于按此列进行数据检索和操作。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reset_index()</a:t>
            </a:r>
            <a:r>
              <a:rPr lang="zh-CN" altLang="en-US"/>
              <a:t>：把索引还原为普通列，同时创建一个新的默认整数索引，常用于恢复数据的常规结构。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.T</a:t>
            </a:r>
            <a:r>
              <a:rPr lang="zh-CN" altLang="en-US"/>
              <a:t>：实现</a:t>
            </a:r>
            <a:r>
              <a:rPr lang="en-US" altLang="zh-CN"/>
              <a:t> DataFrame </a:t>
            </a:r>
            <a:r>
              <a:rPr lang="zh-CN" altLang="en-US"/>
              <a:t>的转置，即行和列互换，能从不同视角查看和分析数据。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split()</a:t>
            </a:r>
            <a:r>
              <a:rPr lang="zh-CN" altLang="en-US"/>
              <a:t>：一般用于对字符串列操作，按指定分隔符将字符串拆分为多个部分，可用于数据的清洗和整理。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cat()</a:t>
            </a:r>
            <a:r>
              <a:rPr lang="zh-CN" altLang="en-US"/>
              <a:t>：可以连接多个</a:t>
            </a:r>
            <a:r>
              <a:rPr lang="en-US" altLang="zh-CN"/>
              <a:t> Series</a:t>
            </a:r>
            <a:r>
              <a:rPr lang="zh-CN" altLang="en-US"/>
              <a:t>、</a:t>
            </a:r>
            <a:r>
              <a:rPr lang="en-US" altLang="zh-CN"/>
              <a:t>DataFrame </a:t>
            </a:r>
            <a:r>
              <a:rPr lang="zh-CN" altLang="en-US"/>
              <a:t>或</a:t>
            </a:r>
            <a:r>
              <a:rPr lang="en-US" altLang="zh-CN"/>
              <a:t> Index </a:t>
            </a:r>
            <a:r>
              <a:rPr lang="zh-CN" altLang="en-US"/>
              <a:t>对象，将它们合并成一个新的对象。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melt()</a:t>
            </a:r>
            <a:r>
              <a:rPr lang="zh-CN" altLang="en-US"/>
              <a:t>：将</a:t>
            </a:r>
            <a:r>
              <a:rPr lang="en-US" altLang="zh-CN"/>
              <a:t> DataFrame </a:t>
            </a:r>
            <a:r>
              <a:rPr lang="zh-CN" altLang="en-US"/>
              <a:t>从宽格式转换为长格式，使数据结构更适合特定的分析和可视化需求。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explode()</a:t>
            </a:r>
            <a:r>
              <a:rPr lang="zh-CN" altLang="en-US"/>
              <a:t>：把包含列表、元组等可迭代对象的列拆分成多行，每行一个元素，以展开复杂的数据结构。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drop()</a:t>
            </a:r>
            <a:r>
              <a:rPr lang="zh-CN" altLang="en-US"/>
              <a:t>：用于删除</a:t>
            </a:r>
            <a:r>
              <a:rPr lang="en-US" altLang="zh-CN"/>
              <a:t> DataFrame </a:t>
            </a:r>
            <a:r>
              <a:rPr lang="zh-CN" altLang="en-US"/>
              <a:t>中的指定行或列，可根据标签或位置进行删除操作。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loc</a:t>
            </a:r>
            <a:r>
              <a:rPr lang="zh-CN" altLang="en-US"/>
              <a:t>：基于标签选择数据，可以按行和列的标签选取</a:t>
            </a:r>
            <a:r>
              <a:rPr lang="en-US" altLang="zh-CN"/>
              <a:t> DataFrame </a:t>
            </a:r>
            <a:r>
              <a:rPr lang="zh-CN" altLang="en-US"/>
              <a:t>中的特定子集。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fillna()</a:t>
            </a:r>
            <a:r>
              <a:rPr lang="zh-CN" altLang="en-US"/>
              <a:t>：用指定的值或方法填充</a:t>
            </a:r>
            <a:r>
              <a:rPr lang="en-US" altLang="zh-CN"/>
              <a:t> DataFrame </a:t>
            </a:r>
            <a:r>
              <a:rPr lang="zh-CN" altLang="en-US"/>
              <a:t>中的缺失值，如用均值、中位数或自定义值填充。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dropna()</a:t>
            </a:r>
            <a:r>
              <a:rPr lang="zh-CN" altLang="en-US"/>
              <a:t>：删除包含缺失值的行或列，可根据不同的缺失值处理策略进行操作。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drop_duplicates()</a:t>
            </a:r>
            <a:r>
              <a:rPr lang="zh-CN" altLang="en-US"/>
              <a:t>：去除</a:t>
            </a:r>
            <a:r>
              <a:rPr lang="en-US" altLang="zh-CN"/>
              <a:t> DataFrame </a:t>
            </a:r>
            <a:r>
              <a:rPr lang="zh-CN" altLang="en-US"/>
              <a:t>中的重复行，保留唯一的行数据，使数据更加简洁。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>
                <a:solidFill>
                  <a:srgbClr val="FF0000"/>
                </a:solidFill>
              </a:rPr>
              <a:t>replace()</a:t>
            </a:r>
            <a:r>
              <a:rPr lang="zh-CN" altLang="en-US">
                <a:solidFill>
                  <a:srgbClr val="FF0000"/>
                </a:solidFill>
              </a:rPr>
              <a:t>：将</a:t>
            </a:r>
            <a:r>
              <a:rPr lang="en-US" altLang="zh-CN">
                <a:solidFill>
                  <a:srgbClr val="FF0000"/>
                </a:solidFill>
              </a:rPr>
              <a:t> DataFrame </a:t>
            </a:r>
            <a:r>
              <a:rPr lang="zh-CN" altLang="en-US">
                <a:solidFill>
                  <a:srgbClr val="FF0000"/>
                </a:solidFill>
              </a:rPr>
              <a:t>中的特定值替换为其他值，可用于数据的修正和统一。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>
                <a:solidFill>
                  <a:srgbClr val="FF0000"/>
                </a:solidFill>
              </a:rPr>
              <a:t>astype()</a:t>
            </a:r>
            <a:r>
              <a:rPr lang="zh-CN" altLang="en-US">
                <a:solidFill>
                  <a:srgbClr val="FF0000"/>
                </a:solidFill>
              </a:rPr>
              <a:t>：将</a:t>
            </a:r>
            <a:r>
              <a:rPr lang="en-US" altLang="zh-CN">
                <a:solidFill>
                  <a:srgbClr val="FF0000"/>
                </a:solidFill>
              </a:rPr>
              <a:t> DataFrame </a:t>
            </a:r>
            <a:r>
              <a:rPr lang="zh-CN" altLang="en-US">
                <a:solidFill>
                  <a:srgbClr val="FF0000"/>
                </a:solidFill>
              </a:rPr>
              <a:t>中的列转换为指定的数据类型，以满足不同的计算和分析需求。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ldLvl="0" animBg="1"/>
      <p:bldP spid="5125" grpId="0" bldLvl="0" animBg="1"/>
      <p:bldP spid="5128" grpId="0" bldLvl="0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系统设计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79976" y="928315"/>
            <a:ext cx="590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82980" y="634365"/>
            <a:ext cx="4011930" cy="1652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数据结构设计</a:t>
            </a:r>
            <a:endParaRPr lang="zh-CN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endParaRPr lang="en-US" altLang="zh-CN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280" y="1341120"/>
            <a:ext cx="1955165" cy="491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、整理数据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95325" y="1826260"/>
            <a:ext cx="113588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利用</a:t>
            </a:r>
            <a:r>
              <a:rPr lang="en-US" altLang="zh-CN" b="1"/>
              <a:t>pandas</a:t>
            </a:r>
            <a:r>
              <a:rPr lang="zh-CN" altLang="en-US" b="1"/>
              <a:t>库中这些函数对清洗好的数据进行整理（有时清洗后的数据可以直接进行下一步使用，本项目没有这一步）</a:t>
            </a:r>
            <a:endParaRPr lang="zh-CN" altLang="en-US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99745" y="2513330"/>
            <a:ext cx="1143698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concat()</a:t>
            </a:r>
            <a:r>
              <a:rPr lang="zh-CN" altLang="en-US"/>
              <a:t>：用于沿着指定轴（通常是行或列）将多个</a:t>
            </a:r>
            <a:r>
              <a:rPr lang="en-US" altLang="zh-CN"/>
              <a:t> DataFrame </a:t>
            </a:r>
            <a:r>
              <a:rPr lang="zh-CN" altLang="en-US"/>
              <a:t>或</a:t>
            </a:r>
            <a:r>
              <a:rPr lang="en-US" altLang="zh-CN"/>
              <a:t> Series </a:t>
            </a:r>
            <a:r>
              <a:rPr lang="zh-CN" altLang="en-US"/>
              <a:t>对象连接起来。可以简单堆叠数据，连接时可选择是否保留原索引。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merge()</a:t>
            </a:r>
            <a:r>
              <a:rPr lang="zh-CN" altLang="en-US"/>
              <a:t>：根据一个或多个键（列）将不同的</a:t>
            </a:r>
            <a:r>
              <a:rPr lang="en-US" altLang="zh-CN"/>
              <a:t> DataFrame </a:t>
            </a:r>
            <a:r>
              <a:rPr lang="zh-CN" altLang="en-US"/>
              <a:t>连接起来，支持内连接、左连接、右连接和外连接等多种连接方式。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join()</a:t>
            </a:r>
            <a:r>
              <a:rPr lang="zh-CN" altLang="en-US"/>
              <a:t>：主要用于基于索引将多个</a:t>
            </a:r>
            <a:r>
              <a:rPr lang="en-US" altLang="zh-CN"/>
              <a:t> DataFrame </a:t>
            </a:r>
            <a:r>
              <a:rPr lang="zh-CN" altLang="en-US"/>
              <a:t>连接在一起，是一种较为便捷的连接方式，默认是左连接。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groupby()</a:t>
            </a:r>
            <a:r>
              <a:rPr lang="zh-CN" altLang="en-US"/>
              <a:t>：按照指定的列对数据进行分组，之后可以对每个组应用聚合函数（如求和、均值、计数等），实现数据的分组统计分析。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pivot_table()</a:t>
            </a:r>
            <a:r>
              <a:rPr lang="zh-CN" altLang="en-US"/>
              <a:t>：根据指定的列创建数据透视表，能够对数据进行汇总和重塑，以更清晰的方式展示数据之间的关系和统计信息。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cut()</a:t>
            </a:r>
            <a:r>
              <a:rPr lang="zh-CN" altLang="en-US"/>
              <a:t>：将连续的数值数据进行离散化，划分成不同的区间（箱子），可以用于数据的分箱处理和分组分析。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query()</a:t>
            </a:r>
            <a:r>
              <a:rPr lang="zh-CN" altLang="en-US"/>
              <a:t>：对</a:t>
            </a:r>
            <a:r>
              <a:rPr lang="en-US" altLang="zh-CN"/>
              <a:t> DataFrame </a:t>
            </a:r>
            <a:r>
              <a:rPr lang="zh-CN" altLang="en-US"/>
              <a:t>进行筛选，以一种简洁直观的方式选择满足特定条件的行。</a:t>
            </a:r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ldLvl="0" animBg="1"/>
      <p:bldP spid="5125" grpId="0" bldLvl="0" animBg="1"/>
      <p:bldP spid="5128" grpId="0" bldLvl="0" animBg="1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系统设计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79976" y="928315"/>
            <a:ext cx="590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82980" y="634365"/>
            <a:ext cx="4011930" cy="1652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数据结构设计</a:t>
            </a:r>
            <a:endParaRPr lang="zh-CN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endParaRPr lang="en-US" altLang="zh-CN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280" y="1341120"/>
            <a:ext cx="2600960" cy="491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5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、可视化数据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95325" y="1826260"/>
            <a:ext cx="113588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利用</a:t>
            </a:r>
            <a:r>
              <a:rPr lang="en-US" altLang="zh-CN" b="1"/>
              <a:t>matplotlib.pyplot</a:t>
            </a:r>
            <a:r>
              <a:rPr lang="zh-CN" altLang="en-US" b="1"/>
              <a:t>库和</a:t>
            </a:r>
            <a:r>
              <a:rPr lang="en-US" altLang="zh-CN" b="1"/>
              <a:t>seaborn</a:t>
            </a:r>
            <a:r>
              <a:rPr lang="zh-CN" altLang="en-US" b="1"/>
              <a:t>库中对整理好的数据进行可视化分析，以下是我们可以借助到的图表</a:t>
            </a:r>
            <a:endParaRPr lang="zh-CN" altLang="en-US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2890" y="2348865"/>
            <a:ext cx="1187767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histplot()</a:t>
            </a:r>
            <a:r>
              <a:rPr lang="zh-CN" altLang="en-US" sz="1600"/>
              <a:t>：用于绘制直方图，展示数据的分布情况，通过将数据分组为不同区间，以矩形条高度表示各区间内数据的频数。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kdeplot()</a:t>
            </a:r>
            <a:r>
              <a:rPr lang="zh-CN" altLang="en-US" sz="1600"/>
              <a:t>：绘制核密度估计图，以平滑曲线展示数据的概率密度分布，无需预设区间，能更连续地呈现数据分布特征。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>
                <a:solidFill>
                  <a:srgbClr val="FF0000"/>
                </a:solidFill>
              </a:rPr>
              <a:t>boxplot()</a:t>
            </a:r>
            <a:r>
              <a:rPr lang="zh-CN" altLang="en-US" sz="1600">
                <a:solidFill>
                  <a:srgbClr val="FF0000"/>
                </a:solidFill>
              </a:rPr>
              <a:t>：绘制箱线图，展示数据的四分位数、中位数和异常值，可直观比较不同组数据的分布范围和集中趋势。</a:t>
            </a:r>
            <a:endParaRPr lang="zh-CN" altLang="en-US" sz="160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violinplot()</a:t>
            </a:r>
            <a:r>
              <a:rPr lang="zh-CN" altLang="en-US" sz="1600"/>
              <a:t>：结合了箱线图和核密度图的特点，中间显示箱线图信息，两侧用核密度曲线展示数据分布，能更全面呈现数据分布形态。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>
                <a:solidFill>
                  <a:srgbClr val="FF0000"/>
                </a:solidFill>
              </a:rPr>
              <a:t>scatterplot()</a:t>
            </a:r>
            <a:r>
              <a:rPr lang="zh-CN" altLang="en-US" sz="1600">
                <a:solidFill>
                  <a:srgbClr val="FF0000"/>
                </a:solidFill>
              </a:rPr>
              <a:t>：绘制散点图，展示两个变量之间的关系，每个数据点对应一组变量值，可观察变量间的相关性或分布规律。</a:t>
            </a:r>
            <a:endParaRPr lang="zh-CN" altLang="en-US" sz="160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lineplot()</a:t>
            </a:r>
            <a:r>
              <a:rPr lang="zh-CN" altLang="en-US" sz="1600"/>
              <a:t>：绘制折线图，通常用于展示数据随时间或其他连续变量的变化趋势，通过连接数据点形成折线体现变化情况。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>
                <a:solidFill>
                  <a:srgbClr val="FF0000"/>
                </a:solidFill>
              </a:rPr>
              <a:t>barplot()</a:t>
            </a:r>
            <a:r>
              <a:rPr lang="zh-CN" altLang="en-US" sz="1600">
                <a:solidFill>
                  <a:srgbClr val="FF0000"/>
                </a:solidFill>
              </a:rPr>
              <a:t>：绘制条形图，用于比较不同类别数据的统计量（如均值、总和等），条形长度或高度表示对应类别数值大小。</a:t>
            </a:r>
            <a:endParaRPr lang="zh-CN" altLang="en-US" sz="160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countplot()</a:t>
            </a:r>
            <a:r>
              <a:rPr lang="zh-CN" altLang="en-US" sz="1600"/>
              <a:t>：绘制计数条形图，统计分类变量中每个类别的数量，以条形高度直观展示各类别频数。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>
                <a:solidFill>
                  <a:srgbClr val="FF0000"/>
                </a:solidFill>
              </a:rPr>
              <a:t>pie()</a:t>
            </a:r>
            <a:r>
              <a:rPr lang="zh-CN" altLang="en-US" sz="1600">
                <a:solidFill>
                  <a:srgbClr val="FF0000"/>
                </a:solidFill>
              </a:rPr>
              <a:t>：绘制饼图，展示各部分占总体的比例关系，将圆形分割成扇形，扇形面积对应各部分比例。</a:t>
            </a:r>
            <a:endParaRPr lang="zh-CN" altLang="en-US" sz="160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heatmap()</a:t>
            </a:r>
            <a:r>
              <a:rPr lang="zh-CN" altLang="en-US" sz="1600"/>
              <a:t>：绘制热力图，用颜色深浅表示二维数据矩阵的值，可清晰展示数据间的相关性、差异性等信息，常用于矩阵数据可视化。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pairplot()</a:t>
            </a:r>
            <a:r>
              <a:rPr lang="zh-CN" altLang="en-US" sz="1600"/>
              <a:t>：绘制散点图矩阵，展示数据集中多个变量两两之间的关系，对角线上通常展示变量自身的分布，非对角线展示变量间的散点关系。</a:t>
            </a:r>
            <a:endParaRPr lang="zh-CN" altLang="en-US" sz="16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ldLvl="0" animBg="1"/>
      <p:bldP spid="5125" grpId="0" bldLvl="0" animBg="1"/>
      <p:bldP spid="5128" grpId="0" bldLvl="0" animBg="1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系统设计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79976" y="928315"/>
            <a:ext cx="590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82980" y="634365"/>
            <a:ext cx="4011930" cy="1652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数据结构设计</a:t>
            </a:r>
            <a:endParaRPr lang="zh-CN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endParaRPr lang="en-US" altLang="zh-CN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280" y="1341120"/>
            <a:ext cx="2600960" cy="491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5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、可视化数据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95325" y="1826260"/>
            <a:ext cx="113588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上一页中提到的十种图表</a:t>
            </a:r>
            <a:endParaRPr lang="zh-CN" altLang="en-US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/>
          </a:p>
        </p:txBody>
      </p:sp>
      <p:pic>
        <p:nvPicPr>
          <p:cNvPr id="5" name="图片 4" descr="2009bf7e8880ce5b639eefc4612c9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" y="2204720"/>
            <a:ext cx="2452370" cy="1706245"/>
          </a:xfrm>
          <a:prstGeom prst="rect">
            <a:avLst/>
          </a:prstGeom>
        </p:spPr>
      </p:pic>
      <p:pic>
        <p:nvPicPr>
          <p:cNvPr id="8" name="图片 7" descr="6997e002b9a3532c3e7f794b1dcb5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2237105"/>
            <a:ext cx="2265680" cy="1673860"/>
          </a:xfrm>
          <a:prstGeom prst="rect">
            <a:avLst/>
          </a:prstGeom>
        </p:spPr>
      </p:pic>
      <p:pic>
        <p:nvPicPr>
          <p:cNvPr id="9" name="图片 8" descr="2ec8a7bc9076db9c77b0748890e86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720" y="2201545"/>
            <a:ext cx="2590800" cy="1709420"/>
          </a:xfrm>
          <a:prstGeom prst="rect">
            <a:avLst/>
          </a:prstGeom>
        </p:spPr>
      </p:pic>
      <p:pic>
        <p:nvPicPr>
          <p:cNvPr id="10" name="图片 9" descr="994f4dcf7761c3b3d915ef53cf1d0a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8235" y="2201545"/>
            <a:ext cx="2538095" cy="1708785"/>
          </a:xfrm>
          <a:prstGeom prst="rect">
            <a:avLst/>
          </a:prstGeom>
        </p:spPr>
      </p:pic>
      <p:pic>
        <p:nvPicPr>
          <p:cNvPr id="13" name="图片 12" descr="341a6ecd1b0330f881c85c226d0325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8540" y="2132965"/>
            <a:ext cx="2242820" cy="1725295"/>
          </a:xfrm>
          <a:prstGeom prst="rect">
            <a:avLst/>
          </a:prstGeom>
        </p:spPr>
      </p:pic>
      <p:pic>
        <p:nvPicPr>
          <p:cNvPr id="14" name="图片 13" descr="05c946e7d7f1dfc954150fe6e530f0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4765" y="4149090"/>
            <a:ext cx="2653030" cy="1942465"/>
          </a:xfrm>
          <a:prstGeom prst="rect">
            <a:avLst/>
          </a:prstGeom>
        </p:spPr>
      </p:pic>
      <p:pic>
        <p:nvPicPr>
          <p:cNvPr id="15" name="图片 14" descr="0989ea462a0a9966fd67af5358c653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0655" y="4149090"/>
            <a:ext cx="2294255" cy="1678305"/>
          </a:xfrm>
          <a:prstGeom prst="rect">
            <a:avLst/>
          </a:prstGeom>
        </p:spPr>
      </p:pic>
      <p:pic>
        <p:nvPicPr>
          <p:cNvPr id="16" name="图片 15" descr="8268ea163044bf0e11e77e0cdc53ce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0010" y="4149090"/>
            <a:ext cx="2160905" cy="1772920"/>
          </a:xfrm>
          <a:prstGeom prst="rect">
            <a:avLst/>
          </a:prstGeom>
        </p:spPr>
      </p:pic>
      <p:pic>
        <p:nvPicPr>
          <p:cNvPr id="17" name="图片 16" descr="082d2d4d42d071df8a2e28aa8e893d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3790" y="4219575"/>
            <a:ext cx="2444750" cy="1607820"/>
          </a:xfrm>
          <a:prstGeom prst="rect">
            <a:avLst/>
          </a:prstGeom>
        </p:spPr>
      </p:pic>
      <p:pic>
        <p:nvPicPr>
          <p:cNvPr id="18" name="图片 17" descr="6476ef8e7d6a6c492f2bf15aa1b551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24415" y="4149090"/>
            <a:ext cx="2131060" cy="183261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ldLvl="0" animBg="1"/>
      <p:bldP spid="5125" grpId="0" bldLvl="0" animBg="1"/>
      <p:bldP spid="5128" grpId="0" bldLvl="0" animBg="1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系统设计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79976" y="928315"/>
            <a:ext cx="590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82980" y="634365"/>
            <a:ext cx="4011930" cy="1652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数据结构设计</a:t>
            </a:r>
            <a:endParaRPr lang="zh-CN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endParaRPr lang="en-US" altLang="zh-CN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280" y="1341120"/>
            <a:ext cx="2600960" cy="491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6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zh-CN" altLang="en-US" sz="24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统计数据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95325" y="1826260"/>
            <a:ext cx="113588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利用</a:t>
            </a:r>
            <a:r>
              <a:rPr lang="en-US" b="1"/>
              <a:t>pandas</a:t>
            </a:r>
            <a:r>
              <a:rPr lang="zh-CN" altLang="en-US" b="1"/>
              <a:t>、</a:t>
            </a:r>
            <a:r>
              <a:rPr lang="en-US" altLang="zh-CN" b="1"/>
              <a:t>statsmodels.api</a:t>
            </a:r>
            <a:r>
              <a:rPr lang="zh-CN" altLang="en-US" b="1"/>
              <a:t>库进行数据的统计（在本项目中主要统计变量之间的相关性</a:t>
            </a:r>
            <a:r>
              <a:rPr lang="en-US" altLang="zh-CN" b="1"/>
              <a:t>)</a:t>
            </a:r>
            <a:endParaRPr lang="zh-CN" altLang="en-US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95325" y="2287270"/>
            <a:ext cx="982345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mean()</a:t>
            </a:r>
            <a:r>
              <a:rPr lang="zh-CN" altLang="en-US" sz="1600"/>
              <a:t>：计算数据集的算术平均值。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median()</a:t>
            </a:r>
            <a:r>
              <a:rPr lang="zh-CN" altLang="en-US" sz="1600"/>
              <a:t>：求数据集排序后的中间值。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mode()</a:t>
            </a:r>
            <a:r>
              <a:rPr lang="zh-CN" altLang="en-US" sz="1600"/>
              <a:t>：找出数据集中出现频率最高的值。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ptp()</a:t>
            </a:r>
            <a:r>
              <a:rPr lang="zh-CN" altLang="en-US" sz="1600"/>
              <a:t>：计算数据集最大值与最小值的差。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var()</a:t>
            </a:r>
            <a:r>
              <a:rPr lang="zh-CN" altLang="en-US" sz="1600"/>
              <a:t>：计算数据集的方差，衡量数据离散程度。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std()</a:t>
            </a:r>
            <a:r>
              <a:rPr lang="zh-CN" altLang="en-US" sz="1600"/>
              <a:t>：计算数据集的标准差，即方差的平方根。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quantile()</a:t>
            </a:r>
            <a:r>
              <a:rPr lang="zh-CN" altLang="en-US" sz="1600"/>
              <a:t>：确定数据集指定分位数的值。</a:t>
            </a:r>
            <a:endParaRPr lang="zh-CN" altLang="en-US" sz="1600"/>
          </a:p>
          <a:p>
            <a:pPr>
              <a:buFont typeface="Wingdings" panose="05000000000000000000" charset="0"/>
            </a:pPr>
            <a:endParaRPr lang="zh-CN" altLang="en-US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>
                <a:solidFill>
                  <a:srgbClr val="FF0000"/>
                </a:solidFill>
              </a:rPr>
              <a:t>corr()</a:t>
            </a:r>
            <a:r>
              <a:rPr lang="zh-CN" altLang="en-US" sz="1600">
                <a:solidFill>
                  <a:srgbClr val="FF0000"/>
                </a:solidFill>
              </a:rPr>
              <a:t>：计算变量间的相关性。</a:t>
            </a:r>
            <a:endParaRPr lang="zh-CN" altLang="en-US" sz="160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>
                <a:solidFill>
                  <a:srgbClr val="FF0000"/>
                </a:solidFill>
              </a:rPr>
              <a:t>summary()</a:t>
            </a:r>
            <a:r>
              <a:rPr lang="zh-CN" altLang="en-US" sz="1600">
                <a:solidFill>
                  <a:srgbClr val="FF0000"/>
                </a:solidFill>
              </a:rPr>
              <a:t>：在部分库中生成数据集的描述性统计摘要。</a:t>
            </a:r>
            <a:endParaRPr lang="zh-CN" altLang="en-US" sz="160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1180" y="4840605"/>
            <a:ext cx="2600960" cy="491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7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zh-CN" altLang="en-US" sz="24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预测</a:t>
            </a:r>
            <a:r>
              <a:rPr lang="zh-CN" altLang="en-US" sz="24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数据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7080" y="5374640"/>
            <a:ext cx="113588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利用</a:t>
            </a:r>
            <a:r>
              <a:rPr lang="en-US" altLang="zh-CN" b="1"/>
              <a:t>statsmodels.api</a:t>
            </a:r>
            <a:r>
              <a:rPr lang="zh-CN" altLang="en-US" b="1"/>
              <a:t>库函数计算相关系数，建立回归模型，预测我们想要预测的数据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get_dummies()</a:t>
            </a:r>
            <a:r>
              <a:rPr lang="zh-CN" altLang="en-US"/>
              <a:t>：将分类变量转为虚拟变量。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0000"/>
                </a:solidFill>
              </a:rPr>
              <a:t>OLS()</a:t>
            </a:r>
            <a:r>
              <a:rPr lang="zh-CN" altLang="en-US">
                <a:solidFill>
                  <a:srgbClr val="FF0000"/>
                </a:solidFill>
              </a:rPr>
              <a:t>：用于普通最小二乘法回归建模。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categorical()</a:t>
            </a:r>
            <a:r>
              <a:rPr lang="zh-CN" altLang="en-US"/>
              <a:t>：创建或处理分类数据类型。</a:t>
            </a:r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ldLvl="0" animBg="1"/>
      <p:bldP spid="5125" grpId="0" bldLvl="0" animBg="1"/>
      <p:bldP spid="5128" grpId="0" bldLvl="0" animBg="1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系统设计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79976" y="928315"/>
            <a:ext cx="590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02757"/>
            <a:ext cx="12192000" cy="525248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7328" y="730250"/>
            <a:ext cx="2516642" cy="1482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1050"/>
              </a:spcBef>
            </a:pPr>
            <a:r>
              <a:rPr lang="en-US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zh-CN" sz="2400" dirty="0">
                <a:solidFill>
                  <a:srgbClr val="05073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项目结构</a:t>
            </a:r>
            <a:endParaRPr lang="zh-CN" altLang="zh-CN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endParaRPr lang="en-US" altLang="zh-CN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spcBef>
                <a:spcPts val="1050"/>
              </a:spcBef>
            </a:pPr>
            <a:endParaRPr lang="zh-CN" altLang="en-US" sz="2400" dirty="0">
              <a:solidFill>
                <a:srgbClr val="05073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矩形 1"/>
          <p:cNvSpPr/>
          <p:nvPr/>
        </p:nvSpPr>
        <p:spPr>
          <a:xfrm>
            <a:off x="0" y="2014538"/>
            <a:ext cx="12192000" cy="28495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219" name="矩形 2"/>
          <p:cNvSpPr/>
          <p:nvPr/>
        </p:nvSpPr>
        <p:spPr>
          <a:xfrm>
            <a:off x="0" y="2663825"/>
            <a:ext cx="1096963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220" name="文本框 3"/>
          <p:cNvSpPr/>
          <p:nvPr/>
        </p:nvSpPr>
        <p:spPr>
          <a:xfrm>
            <a:off x="946150" y="2000250"/>
            <a:ext cx="1539875" cy="186213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lvl1pPr marL="228600" indent="-228600" algn="l" defTabSz="9144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4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500">
                <a:solidFill>
                  <a:schemeClr val="bg1"/>
                </a:solidFill>
                <a:latin typeface="Impact" panose="020B0806030902050204" pitchFamily="34" charset="0"/>
              </a:rPr>
              <a:t>3</a:t>
            </a:r>
            <a:endParaRPr lang="zh-CN" altLang="en-US" sz="115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221" name="文本框 4"/>
          <p:cNvSpPr/>
          <p:nvPr/>
        </p:nvSpPr>
        <p:spPr>
          <a:xfrm>
            <a:off x="419100" y="2638425"/>
            <a:ext cx="571500" cy="5857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lvl1pPr marL="228600" indent="-228600" algn="l" defTabSz="9144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4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endParaRPr lang="zh-CN" altLang="en-US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22" name="矩形 5"/>
          <p:cNvSpPr/>
          <p:nvPr/>
        </p:nvSpPr>
        <p:spPr>
          <a:xfrm>
            <a:off x="2498725" y="2663825"/>
            <a:ext cx="9693275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223" name="文本框 6"/>
          <p:cNvSpPr/>
          <p:nvPr/>
        </p:nvSpPr>
        <p:spPr>
          <a:xfrm>
            <a:off x="2525713" y="2638425"/>
            <a:ext cx="1766887" cy="5857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lvl1pPr marL="228600" indent="-228600" algn="l" defTabSz="9144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4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24" name="文本框 7"/>
          <p:cNvSpPr/>
          <p:nvPr/>
        </p:nvSpPr>
        <p:spPr>
          <a:xfrm>
            <a:off x="6791325" y="3632200"/>
            <a:ext cx="5727700" cy="8318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lvl1pPr marL="228600" indent="-228600" algn="l" defTabSz="9144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4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程序实现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nimBg="1"/>
      <p:bldP spid="9219" grpId="0" animBg="1"/>
      <p:bldP spid="9220" grpId="0"/>
      <p:bldP spid="9221" grpId="0"/>
      <p:bldP spid="9222" grpId="0" animBg="1"/>
      <p:bldP spid="9223" grpId="0"/>
      <p:bldP spid="922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9307" y="2349036"/>
            <a:ext cx="12889432" cy="4523105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lvl="2">
              <a:lnSpc>
                <a:spcPct val="150000"/>
              </a:lnSpc>
            </a:pPr>
            <a:r>
              <a:rPr lang="zh-CN" altLang="zh-CN" sz="4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模块一：数据处理与数据分析</a:t>
            </a:r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buFont typeface="Wingdings" panose="05000000000000000000" pitchFamily="2" charset="2"/>
            </a:pP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/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44500" y="188595"/>
            <a:ext cx="80994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/>
              <a:t>如何评估数据？</a:t>
            </a:r>
            <a:endParaRPr lang="zh-CN" altLang="en-US" sz="3600" b="1"/>
          </a:p>
        </p:txBody>
      </p:sp>
      <p:sp>
        <p:nvSpPr>
          <p:cNvPr id="3" name="文本框 2"/>
          <p:cNvSpPr txBox="1"/>
          <p:nvPr/>
        </p:nvSpPr>
        <p:spPr>
          <a:xfrm>
            <a:off x="722630" y="986155"/>
            <a:ext cx="47967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干净整齐数据的标准：</a:t>
            </a:r>
            <a:endParaRPr lang="zh-CN" altLang="en-US" sz="2400" b="1"/>
          </a:p>
        </p:txBody>
      </p:sp>
      <p:sp>
        <p:nvSpPr>
          <p:cNvPr id="4" name="文本框 3"/>
          <p:cNvSpPr txBox="1"/>
          <p:nvPr/>
        </p:nvSpPr>
        <p:spPr>
          <a:xfrm>
            <a:off x="821690" y="1701165"/>
            <a:ext cx="441007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整齐：</a:t>
            </a:r>
            <a:endParaRPr lang="zh-CN" altLang="en-US" sz="2400" b="1"/>
          </a:p>
          <a:p>
            <a:r>
              <a:rPr lang="en-US" altLang="zh-CN" sz="2400" b="1"/>
              <a:t>1.</a:t>
            </a:r>
            <a:r>
              <a:rPr lang="zh-CN" altLang="en-US" sz="2400" b="1"/>
              <a:t>每列是同一类数据</a:t>
            </a:r>
            <a:endParaRPr lang="zh-CN" altLang="en-US" sz="2400" b="1"/>
          </a:p>
          <a:p>
            <a:r>
              <a:rPr lang="en-US" altLang="zh-CN" sz="2400" b="1"/>
              <a:t>2.</a:t>
            </a:r>
            <a:r>
              <a:rPr lang="zh-CN" altLang="en-US" sz="2400" b="1"/>
              <a:t>每行是同一个实体</a:t>
            </a:r>
            <a:endParaRPr lang="zh-CN" altLang="en-US" sz="2400" b="1"/>
          </a:p>
          <a:p>
            <a:r>
              <a:rPr lang="en-US" altLang="zh-CN" sz="2400" b="1"/>
              <a:t>3.</a:t>
            </a:r>
            <a:r>
              <a:rPr lang="zh-CN" altLang="en-US" sz="2400" b="1"/>
              <a:t>每个单元格是一个变量</a:t>
            </a:r>
            <a:endParaRPr lang="zh-CN" altLang="en-US" sz="2400" b="1"/>
          </a:p>
        </p:txBody>
      </p:sp>
      <p:sp>
        <p:nvSpPr>
          <p:cNvPr id="5" name="文本框 4"/>
          <p:cNvSpPr txBox="1"/>
          <p:nvPr/>
        </p:nvSpPr>
        <p:spPr>
          <a:xfrm>
            <a:off x="6816090" y="1301750"/>
            <a:ext cx="400240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干净：</a:t>
            </a:r>
            <a:endParaRPr lang="zh-CN" altLang="en-US" sz="2400" b="1"/>
          </a:p>
          <a:p>
            <a:r>
              <a:rPr lang="en-US" altLang="zh-CN" sz="2400" b="1"/>
              <a:t>1.</a:t>
            </a:r>
            <a:r>
              <a:rPr lang="zh-CN" altLang="en-US" sz="2400" b="1"/>
              <a:t>没有缺失数据</a:t>
            </a:r>
            <a:endParaRPr lang="zh-CN" altLang="en-US" sz="2400" b="1"/>
          </a:p>
          <a:p>
            <a:r>
              <a:rPr lang="en-US" altLang="zh-CN" sz="2400" b="1"/>
              <a:t>2.</a:t>
            </a:r>
            <a:r>
              <a:rPr lang="zh-CN" altLang="en-US" sz="2400" b="1"/>
              <a:t>没有重复数据</a:t>
            </a:r>
            <a:endParaRPr lang="zh-CN" altLang="en-US" sz="2400" b="1"/>
          </a:p>
          <a:p>
            <a:r>
              <a:rPr lang="en-US" altLang="zh-CN" sz="2400" b="1"/>
              <a:t>3.</a:t>
            </a:r>
            <a:r>
              <a:rPr lang="zh-CN" altLang="en-US" sz="2400" b="1"/>
              <a:t>没有类型不一致数据</a:t>
            </a:r>
            <a:endParaRPr lang="zh-CN" altLang="en-US" sz="2400" b="1"/>
          </a:p>
          <a:p>
            <a:r>
              <a:rPr lang="en-US" altLang="zh-CN" sz="2400" b="1"/>
              <a:t>4.</a:t>
            </a:r>
            <a:r>
              <a:rPr lang="zh-CN" altLang="en-US" sz="2400" b="1"/>
              <a:t>没有错误</a:t>
            </a:r>
            <a:r>
              <a:rPr lang="en-US" altLang="zh-CN" sz="2400" b="1"/>
              <a:t>/</a:t>
            </a:r>
            <a:r>
              <a:rPr lang="zh-CN" altLang="en-US" sz="2400" b="1"/>
              <a:t>不合理数据</a:t>
            </a:r>
            <a:endParaRPr lang="zh-CN" altLang="en-US" sz="2400" b="1"/>
          </a:p>
        </p:txBody>
      </p:sp>
      <p:sp>
        <p:nvSpPr>
          <p:cNvPr id="6" name="文本框 5"/>
          <p:cNvSpPr txBox="1"/>
          <p:nvPr/>
        </p:nvSpPr>
        <p:spPr>
          <a:xfrm>
            <a:off x="821690" y="3789045"/>
            <a:ext cx="5894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不符合以上条件的都不能叫做干净整齐的数据！！！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21690" y="5085080"/>
            <a:ext cx="10164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一句话，干净整齐的数据千篇一律，不干净不整齐的数据各显神通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pic>
        <p:nvPicPr>
          <p:cNvPr id="8" name="图片 7" descr="9a72420deb250e8a1b437151f6c1d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4105" y="3717290"/>
            <a:ext cx="1556385" cy="16560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456728" y="818686"/>
            <a:ext cx="12889432" cy="821690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lvl="2">
              <a:lnSpc>
                <a:spcPct val="150000"/>
              </a:lnSpc>
            </a:pPr>
            <a:r>
              <a:rPr lang="zh-CN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模块一：数据处理与数据分析</a:t>
            </a:r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读取数据：把数据导入并粗略查看</a:t>
            </a: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/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import </a:t>
            </a: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numpy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as np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import pandas as pd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df1 = </a:t>
            </a: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pd.read_csv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("house_price.csv")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df1.head()                                                                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df1.tail()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df1.isnull().sum()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df1.duplicated()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df1.value_counts("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mainroad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07205" y="2276475"/>
            <a:ext cx="782891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2"/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导入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numpy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库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导入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pandas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库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读取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csv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数据集保存到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df1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表格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lvl="2"/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查看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df1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前五行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                                                              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查看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df1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最后五行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2"/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查找数据中的缺失值，并将缺失值求和</a:t>
            </a:r>
            <a:endParaRPr 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2"/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查看数据中是否有一整行完全重复值</a:t>
            </a:r>
            <a:endParaRPr lang="zh-CN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查看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mainroad</a:t>
            </a:r>
            <a:r>
              <a:rPr lang="zh-CN" alt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一列中每个值的个数（其他也一样）</a:t>
            </a:r>
            <a:endParaRPr lang="zh-CN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ldLvl="0" animBg="1"/>
      <p:bldP spid="5125" grpId="0" bldLvl="0" animBg="1"/>
      <p:bldP spid="5128" grpId="0" bldLvl="0" animBg="1"/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13" y="777220"/>
            <a:ext cx="10157496" cy="468440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161790" y="5590540"/>
            <a:ext cx="56934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表格</a:t>
            </a:r>
            <a:r>
              <a:rPr lang="en-US" altLang="zh-CN" sz="1600" dirty="0">
                <a:latin typeface="+mj-ea"/>
                <a:ea typeface="+mj-ea"/>
              </a:rPr>
              <a:t> </a:t>
            </a:r>
            <a:r>
              <a:rPr lang="zh-CN" altLang="en-US" sz="1600" dirty="0">
                <a:latin typeface="+mj-ea"/>
                <a:ea typeface="+mj-ea"/>
              </a:rPr>
              <a:t>原始数据集数概况（没有极端值等错误不合理数据）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635" y="5536565"/>
            <a:ext cx="2253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df1.describe()</a:t>
            </a:r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634144" y="755034"/>
            <a:ext cx="12889432" cy="559191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lvl="2">
              <a:lnSpc>
                <a:spcPct val="150000"/>
              </a:lnSpc>
            </a:pPr>
            <a:r>
              <a:rPr lang="zh-CN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模块一：数据处理与数据分析</a:t>
            </a:r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zh-CN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清洗数据：</a:t>
            </a: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使数据易于查看</a:t>
            </a: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df2 = df1.rename(columns = {"price":"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价格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","area":"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面积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","bedrooms":"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卧室数量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","bathrooms":"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浴室数量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","stories":"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楼层数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","parking":"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车库数量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,"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mainroad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是否位于主干道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","guestroom":"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有无客房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","basement":"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有无地下室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","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hotwaterheating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是否有热水器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""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airconditioning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有无空调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","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prefarea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是否为城市首选社区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","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furnishingstatus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装修状态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"})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df3 = df2.replace({"furnished":"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精装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","semi-furnished":"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简装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","unfurnished":"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毛坯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"})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df3["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面积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 = df3["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面积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 * 0.0929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df4["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是否位于主干道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 = df4["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是否位于主干道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astype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("category")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df4["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有无客房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 = df4["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有无客房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astype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("category")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df4["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有无地下室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 = df4["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有无地下室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astype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("category")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df4["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是否有热水器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 = df4["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是否有热水器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astype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("category")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df4["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有无空调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 = df4["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有无空调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astype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("category")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df4["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是否为城市首选社区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 = df4["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是否为城市首选社区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astype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("category")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df4["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装修状态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 = df4["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装修状态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astype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("category")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12480" y="2915285"/>
            <a:ext cx="3747770" cy="2860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solidFill>
                  <a:srgbClr val="FF0000"/>
                </a:solidFill>
              </a:rPr>
              <a:t>将列名换成中文</a:t>
            </a:r>
            <a:endParaRPr lang="zh-CN" altLang="en-US" sz="1600">
              <a:solidFill>
                <a:srgbClr val="FF0000"/>
              </a:solidFill>
            </a:endParaRPr>
          </a:p>
          <a:p>
            <a:r>
              <a:rPr lang="zh-CN" altLang="en-US" sz="1600">
                <a:solidFill>
                  <a:srgbClr val="FF0000"/>
                </a:solidFill>
              </a:rPr>
              <a:t>将英文变量换成中文</a:t>
            </a:r>
            <a:endParaRPr lang="zh-CN" altLang="en-US" sz="1600">
              <a:solidFill>
                <a:srgbClr val="FF0000"/>
              </a:solidFill>
            </a:endParaRPr>
          </a:p>
          <a:p>
            <a:r>
              <a:rPr lang="zh-CN" altLang="en-US" sz="1600">
                <a:solidFill>
                  <a:srgbClr val="FF0000"/>
                </a:solidFill>
              </a:rPr>
              <a:t>切换英制单位</a:t>
            </a:r>
            <a:endParaRPr lang="zh-CN" altLang="en-US" sz="1600">
              <a:solidFill>
                <a:srgbClr val="FF0000"/>
              </a:solidFill>
            </a:endParaRPr>
          </a:p>
          <a:p>
            <a:r>
              <a:rPr lang="zh-CN" altLang="en-US" sz="1600">
                <a:solidFill>
                  <a:srgbClr val="FF0000"/>
                </a:solidFill>
              </a:rPr>
              <a:t>将字符串类型的变量切换为分类变量，为后续建立回归模型打下基础</a:t>
            </a:r>
            <a:endParaRPr lang="zh-CN" altLang="en-US" sz="16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300" y="981616"/>
            <a:ext cx="10931594" cy="38620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159896" y="5333381"/>
            <a:ext cx="3024336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表格</a:t>
            </a:r>
            <a:r>
              <a:rPr lang="en-US" altLang="zh-CN" sz="1600" dirty="0">
                <a:latin typeface="+mj-ea"/>
                <a:ea typeface="+mj-ea"/>
              </a:rPr>
              <a:t> </a:t>
            </a:r>
            <a:r>
              <a:rPr lang="zh-CN" altLang="en-US" sz="1600" dirty="0">
                <a:latin typeface="+mj-ea"/>
                <a:ea typeface="+mj-ea"/>
              </a:rPr>
              <a:t>清洗以后的数据</a:t>
            </a:r>
            <a:endParaRPr lang="zh-CN" altLang="en-US" sz="1600" dirty="0">
              <a:latin typeface="+mj-ea"/>
              <a:ea typeface="+mj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83316" y="5157486"/>
            <a:ext cx="3024336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表格</a:t>
            </a:r>
            <a:r>
              <a:rPr lang="en-US" altLang="zh-CN" sz="1600" dirty="0">
                <a:latin typeface="+mj-ea"/>
                <a:ea typeface="+mj-ea"/>
              </a:rPr>
              <a:t> </a:t>
            </a:r>
            <a:r>
              <a:rPr lang="zh-CN" altLang="en-US" sz="1600" dirty="0">
                <a:latin typeface="+mj-ea"/>
                <a:ea typeface="+mj-ea"/>
              </a:rPr>
              <a:t>清洗以后数据信息</a:t>
            </a:r>
            <a:endParaRPr lang="zh-CN" altLang="en-US" sz="1600" dirty="0">
              <a:latin typeface="+mj-ea"/>
              <a:ea typeface="+mj-ea"/>
            </a:endParaRPr>
          </a:p>
        </p:txBody>
      </p:sp>
      <p:pic>
        <p:nvPicPr>
          <p:cNvPr id="3" name="图片 2" descr="99539f517ec6e082c0b22914df1d3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020" y="804545"/>
            <a:ext cx="3790950" cy="42164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07035" y="836930"/>
            <a:ext cx="299402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800">
              <a:solidFill>
                <a:srgbClr val="FF0000"/>
              </a:solidFill>
            </a:endParaRPr>
          </a:p>
          <a:p>
            <a:r>
              <a:rPr lang="en-US" altLang="zh-CN" sz="2800">
                <a:solidFill>
                  <a:srgbClr val="FF0000"/>
                </a:solidFill>
              </a:rPr>
              <a:t>1.</a:t>
            </a:r>
            <a:r>
              <a:rPr lang="zh-CN" altLang="en-US" sz="2800">
                <a:solidFill>
                  <a:srgbClr val="FF0000"/>
                </a:solidFill>
              </a:rPr>
              <a:t>没有缺失数据</a:t>
            </a:r>
            <a:endParaRPr lang="zh-CN" altLang="en-US" sz="2800">
              <a:solidFill>
                <a:srgbClr val="FF0000"/>
              </a:solidFill>
            </a:endParaRPr>
          </a:p>
          <a:p>
            <a:r>
              <a:rPr lang="en-US" altLang="zh-CN" sz="2800">
                <a:solidFill>
                  <a:srgbClr val="FF0000"/>
                </a:solidFill>
              </a:rPr>
              <a:t>2.</a:t>
            </a:r>
            <a:r>
              <a:rPr lang="zh-CN" altLang="en-US" sz="2800">
                <a:solidFill>
                  <a:srgbClr val="FF0000"/>
                </a:solidFill>
              </a:rPr>
              <a:t>没有重复数据</a:t>
            </a:r>
            <a:endParaRPr lang="zh-CN" altLang="en-US" sz="2800">
              <a:solidFill>
                <a:srgbClr val="FF0000"/>
              </a:solidFill>
            </a:endParaRPr>
          </a:p>
          <a:p>
            <a:r>
              <a:rPr lang="en-US" altLang="zh-CN" sz="2800">
                <a:solidFill>
                  <a:srgbClr val="FF0000"/>
                </a:solidFill>
              </a:rPr>
              <a:t>3.</a:t>
            </a:r>
            <a:r>
              <a:rPr lang="zh-CN" altLang="en-US" sz="2800">
                <a:solidFill>
                  <a:srgbClr val="FF0000"/>
                </a:solidFill>
              </a:rPr>
              <a:t>没有不合理数据</a:t>
            </a:r>
            <a:endParaRPr lang="zh-CN" altLang="en-US" sz="2800">
              <a:solidFill>
                <a:srgbClr val="FF0000"/>
              </a:solidFill>
            </a:endParaRPr>
          </a:p>
          <a:p>
            <a:r>
              <a:rPr lang="en-US" altLang="zh-CN" sz="2800">
                <a:solidFill>
                  <a:srgbClr val="FF0000"/>
                </a:solidFill>
              </a:rPr>
              <a:t>4.</a:t>
            </a:r>
            <a:r>
              <a:rPr lang="zh-CN" altLang="en-US" sz="2800">
                <a:solidFill>
                  <a:srgbClr val="FF0000"/>
                </a:solidFill>
              </a:rPr>
              <a:t>没有错误类型</a:t>
            </a:r>
            <a:endParaRPr lang="zh-CN" alt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ldLvl="0" animBg="1"/>
      <p:bldP spid="5125" grpId="0" bldLvl="0" animBg="1"/>
      <p:bldP spid="5128" grpId="0" bldLvl="0" animBg="1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1344" y="980728"/>
            <a:ext cx="13537504" cy="5815965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模块二：可视化数据分析</a:t>
            </a:r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导入绘图相关库</a:t>
            </a: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import </a:t>
            </a: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matplotlib.pyplot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as </a:t>
            </a: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plt</a:t>
            </a:r>
            <a:endParaRPr lang="zh-CN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import seaborn as </a:t>
            </a: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sns</a:t>
            </a:r>
            <a:endParaRPr lang="zh-CN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lang="zh-CN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设置图表色盘为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"pastel"</a:t>
            </a:r>
            <a:endParaRPr lang="zh-CN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sns.set_palette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("pastel")</a:t>
            </a:r>
            <a:endParaRPr lang="zh-CN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lang="zh-CN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设置全局字体参数</a:t>
            </a:r>
            <a:endParaRPr lang="zh-CN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plt.rcParams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['</a:t>
            </a: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font.sans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-serif'] =['</a:t>
            </a: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SimHei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']</a:t>
            </a:r>
            <a:endParaRPr lang="zh-CN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1344" y="980728"/>
            <a:ext cx="13537504" cy="499175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模块二：可视化数据分析</a:t>
            </a:r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房价分布</a:t>
            </a:r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plt.rcParams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["</a:t>
            </a: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figure.figsize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"] = [7.00, 3.50]</a:t>
            </a:r>
            <a:endParaRPr lang="zh-CN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plt.rcParams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["</a:t>
            </a: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figure.autolayout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"] = True</a:t>
            </a:r>
            <a:endParaRPr lang="zh-CN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figure, axes = </a:t>
            </a: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plt.subplots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(1,2)</a:t>
            </a:r>
            <a:endParaRPr lang="zh-CN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sns.histplot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(df4, x="</a:t>
            </a:r>
            <a:r>
              <a:rPr lang="zh-CN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价格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", ax=axes[0])</a:t>
            </a:r>
            <a:endParaRPr lang="zh-CN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sns.boxplot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(df4, y="</a:t>
            </a:r>
            <a:r>
              <a:rPr lang="zh-CN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价格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", ax=axes[1])</a:t>
            </a:r>
            <a:endParaRPr lang="zh-CN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plt.show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</a:t>
            </a:r>
            <a:endParaRPr lang="zh-CN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87845" y="2277110"/>
            <a:ext cx="4523105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建立</a:t>
            </a:r>
            <a:r>
              <a:rPr lang="en-US" altLang="zh-CN">
                <a:solidFill>
                  <a:srgbClr val="FF0000"/>
                </a:solidFill>
              </a:rPr>
              <a:t>7 * 3.5 </a:t>
            </a:r>
            <a:r>
              <a:rPr lang="zh-CN" altLang="en-US">
                <a:solidFill>
                  <a:srgbClr val="FF0000"/>
                </a:solidFill>
              </a:rPr>
              <a:t>大小的画布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打开自动布局，防止图表重叠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在画布上新建两个空图表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绘制价格直方图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绘制价格箱型图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绘制以上内容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5520" y="747763"/>
            <a:ext cx="8064896" cy="391107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72995" y="5373216"/>
            <a:ext cx="11017224" cy="83099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zh-CN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房价呈右偏态分布，说明数据集中的大多数房子价格中等，但有一些价格很高的极端值，使得均值被拉高。</a:t>
            </a:r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55332" y="4935819"/>
            <a:ext cx="3024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图表 房价分布</a:t>
            </a:r>
            <a:endParaRPr lang="zh-CN" altLang="en-US" sz="1600" dirty="0">
              <a:latin typeface="+mj-ea"/>
              <a:ea typeface="+mj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4" grpId="0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91058" y="2875563"/>
            <a:ext cx="13537504" cy="1106805"/>
          </a:xfrm>
          <a:prstGeom prst="rect">
            <a:avLst/>
          </a:prstGeom>
          <a:noFill/>
        </p:spPr>
        <p:txBody>
          <a:bodyPr wrap="square" numCol="1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zh-CN" sz="4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模块二：可视化数据分析</a:t>
            </a:r>
            <a:endParaRPr lang="zh-CN" altLang="zh-CN" sz="4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7368" y="1340768"/>
            <a:ext cx="13537504" cy="388375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模块二：可视化数据分析</a:t>
            </a:r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面积分布</a:t>
            </a: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figure, axes = </a:t>
            </a: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plt.subplots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(1,2)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sns.histplot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(df4, x="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面积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", ax=axes[0])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sns.boxplot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(df4, y="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面积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", ax=axes[1])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plt.show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07505" y="2540635"/>
            <a:ext cx="5005070" cy="2112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  <a:sym typeface="+mn-ea"/>
              </a:rPr>
              <a:t>在画布上新建两个空图表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绘制面积直方图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绘制面积箱型图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绘制以上内容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ldLvl="0" animBg="1"/>
      <p:bldP spid="5125" grpId="0" bldLvl="0" animBg="1"/>
      <p:bldP spid="5128" grpId="0" bldLvl="0" animBg="1"/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27648" y="5325400"/>
            <a:ext cx="11017224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面积的分布与房价相似，也呈右偏态分布。</a:t>
            </a:r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 descr="No description has been provided for this imag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736786"/>
            <a:ext cx="7748625" cy="381837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5087888" y="4817774"/>
            <a:ext cx="3024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图表 房价分布</a:t>
            </a:r>
            <a:endParaRPr lang="zh-CN" altLang="en-US" sz="1600" dirty="0">
              <a:latin typeface="+mj-ea"/>
              <a:ea typeface="+mj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4" grpId="0"/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722309" y="1021399"/>
            <a:ext cx="6336704" cy="443775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模块二：可视化数据分析</a:t>
            </a:r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房价与面积的关系</a:t>
            </a: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sns.scatterplot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(df4, x="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面积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", y="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价格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")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plt.show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从散点图来看，能大致看出一些正相关关系，但关系的强度需要后续通过计算相关性来得到。</a:t>
            </a: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 descr="No description has been provided for this imag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976" y="1412776"/>
            <a:ext cx="5991182" cy="295232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7752184" y="4437112"/>
            <a:ext cx="3024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图表 房价与面积的关系</a:t>
            </a:r>
            <a:endParaRPr lang="zh-CN" altLang="en-US" sz="1600" dirty="0">
              <a:latin typeface="+mj-ea"/>
              <a:ea typeface="+mj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2" grpId="0"/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1344" y="1340768"/>
            <a:ext cx="13537504" cy="388375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模块二：可视化数据分析</a:t>
            </a:r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卧室数与房价</a:t>
            </a: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figure, axes = </a:t>
            </a: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plt.subplots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(1,2)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sns.histplot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(df4, x="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卧室数量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", ax=axes[0])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sns.barplot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(df4, x="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卧室数量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" , y="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价格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", ax=axes[1])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plt.show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7388" y="5085184"/>
            <a:ext cx="11017224" cy="120032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此数据集中房子的卧室数范围为</a:t>
            </a: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1-6</a:t>
            </a: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个，其中大多房子有</a:t>
            </a: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2-4</a:t>
            </a: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个。</a:t>
            </a:r>
            <a:endParaRPr lang="zh-CN" altLang="en-US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从平均房价与卧室数之间的柱状图来看，当卧室数小于</a:t>
            </a: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个时，卧室数多的房子价格也相应高，但一旦多于</a:t>
            </a: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个，房价并不一定相应更高</a:t>
            </a:r>
            <a:endParaRPr lang="zh-CN" altLang="en-US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 descr="No description has been provided for this imag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673628"/>
            <a:ext cx="7985264" cy="392316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5303912" y="4707919"/>
            <a:ext cx="3024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图表 卧室数与房价</a:t>
            </a:r>
            <a:endParaRPr lang="zh-CN" altLang="en-US" sz="1600" dirty="0">
              <a:latin typeface="+mj-ea"/>
              <a:ea typeface="+mj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4" grpId="0"/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312712" y="814496"/>
            <a:ext cx="13537504" cy="554574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模块二：可视化数据分析</a:t>
            </a:r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装修状态与房价</a:t>
            </a: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figure, axes = </a:t>
            </a: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plt.subplots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(1,2)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furnishingstatus_count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= df4['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装修状态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'].</a:t>
            </a: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value_counts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furnishingstatus_label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furnishingstatus_count.index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axes[0].pie(</a:t>
            </a: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furnishingstatus_count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labels=</a:t>
            </a: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furnishingstatus_label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sns.barplot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(df4, x='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装修状态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', y='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价格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', ax=axes[1])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axes[1].</a:t>
            </a: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set_xticklabels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(axes[1].</a:t>
            </a: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get_xticklabels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(), rotation=45, </a:t>
            </a: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horizontalalignment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='right')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plt.show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760460" y="2061210"/>
            <a:ext cx="5005070" cy="3268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  <a:sym typeface="+mn-ea"/>
              </a:rPr>
              <a:t>在画布上新建两个空图表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保存装修状态变量的数值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将装修状态变量名作为索引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绘制饼图，装修状态数量为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饼图每部分面积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装修状态与价格之间的条形图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绘制以上内容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6424" y="5301208"/>
            <a:ext cx="11790294" cy="83099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此数据集中简装和毛坯的房子较多，</a:t>
            </a: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1/4</a:t>
            </a: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左右房子为精装。</a:t>
            </a:r>
            <a:endParaRPr lang="zh-CN" altLang="en-US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从平均房价与装修状态之间的柱状图来看，精装的房子价格高于简装，简装高于毛坯。</a:t>
            </a:r>
            <a:endParaRPr lang="zh-CN" altLang="en-US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 descr="No description has been provided for this imag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901809"/>
            <a:ext cx="7313490" cy="377529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5375920" y="4844890"/>
            <a:ext cx="3024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图表装修状态与房价</a:t>
            </a:r>
            <a:endParaRPr lang="zh-CN" altLang="en-US" sz="1600" dirty="0">
              <a:latin typeface="+mj-ea"/>
              <a:ea typeface="+mj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4" grpId="0"/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19605" y="2781300"/>
            <a:ext cx="12889230" cy="1031875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lvl="2">
              <a:lnSpc>
                <a:spcPct val="150000"/>
              </a:lnSpc>
            </a:pP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模块三：线性回归模型建立</a:t>
            </a: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384175" y="634365"/>
            <a:ext cx="12889230" cy="1031875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粗略查看各各变量之间的相关性</a:t>
            </a: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sns.pairplot(df5, hue="</a:t>
            </a: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装修状态</a:t>
            </a: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",</a:t>
            </a: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kind="reg")</a:t>
            </a: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plt.show()</a:t>
            </a: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 descr="b553047b810f8aeee65e989c454191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810" y="476885"/>
            <a:ext cx="6408420" cy="60883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ldLvl="0" animBg="1"/>
      <p:bldP spid="5125" grpId="0" bldLvl="0" animBg="1"/>
      <p:bldP spid="5128" grpId="0" bldLvl="0" animBg="1"/>
      <p:bldP spid="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456728" y="818686"/>
            <a:ext cx="12889432" cy="470789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模块三：线性回归模型建立</a:t>
            </a:r>
            <a:endParaRPr lang="zh-CN" altLang="en-US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因变量</a:t>
            </a:r>
            <a:endParaRPr lang="zh-CN" altLang="en-US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 = df5["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价格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"]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自变量</a:t>
            </a:r>
            <a:endParaRPr lang="zh-CN" altLang="en-US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= df5.drop("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价格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", axis = 1)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一般我们认为，当相关系数的绝对值大于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0.8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的时候，可能导致严重共线性，</a:t>
            </a:r>
            <a:endParaRPr lang="zh-CN" altLang="en-US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所以我们检查的时候，找绝对值大于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0.8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的值即可</a:t>
            </a: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ldLvl="0" animBg="1"/>
      <p:bldP spid="5125" grpId="0" bldLvl="0" animBg="1"/>
      <p:bldP spid="5128" grpId="0" bldLvl="0" animBg="1"/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456728" y="818686"/>
            <a:ext cx="12889432" cy="359981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模块三：线性回归模型建立</a:t>
            </a: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一般我们认为，当相关系数的绝对值大于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0.8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的时候，可能导致严重共线性，所以我们检查的时候，找绝对值大于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0.8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的值即可</a:t>
            </a:r>
            <a:endParaRPr lang="zh-CN" altLang="en-US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sns.heatmap(X.corr().abs(), annot=True)</a:t>
            </a: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plt.plot()</a:t>
            </a: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 descr="ff08ed4486eda56c4d4be0b3abe390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7665" y="2997200"/>
            <a:ext cx="6276340" cy="3232150"/>
          </a:xfrm>
          <a:prstGeom prst="rect">
            <a:avLst/>
          </a:prstGeom>
        </p:spPr>
      </p:pic>
      <p:pic>
        <p:nvPicPr>
          <p:cNvPr id="4" name="图片 3" descr="b03c79d27a76e2f75b41ab882a703b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80" y="3789045"/>
            <a:ext cx="4607560" cy="227901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ldLvl="0" animBg="1"/>
      <p:bldP spid="5125" grpId="0" bldLvl="0" animBg="1"/>
      <p:bldP spid="5128" grpId="0" bldLvl="0" animBg="1"/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87488" y="5597249"/>
            <a:ext cx="11790294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从以上输出来看，不同变量之间相关系数的绝对值均小于或等于</a:t>
            </a: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0.8</a:t>
            </a: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815" y="1413046"/>
            <a:ext cx="10833491" cy="38219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087888" y="5229134"/>
            <a:ext cx="30243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表格 两两变量间的相关系数</a:t>
            </a:r>
            <a:endParaRPr lang="zh-CN" altLang="en-US" sz="1600" dirty="0">
              <a:latin typeface="+mj-ea"/>
              <a:ea typeface="+mj-ea"/>
            </a:endParaRPr>
          </a:p>
          <a:p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8815" y="981075"/>
            <a:ext cx="3289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2"/>
            <a:r>
              <a:rPr lang="en-US" altLang="zh-CN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X.corr</a:t>
            </a:r>
            <a:r>
              <a:rPr lang="en-US" altLang="zh-CN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().abs() &gt; 0.8</a:t>
            </a:r>
            <a:endParaRPr lang="en-US" altLang="zh-CN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4" grpId="0"/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456728" y="818686"/>
            <a:ext cx="12889432" cy="58159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模块三：线性回归模型建立</a:t>
            </a: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最小二乘法来得线性回归模型</a:t>
            </a: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给模型的线性方程添加截距</a:t>
            </a:r>
            <a:endParaRPr lang="zh-CN" altLang="en-US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= </a:t>
            </a: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sm.add_constant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(X)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利用最小二乘法来得到线性回归模型的参数值</a:t>
            </a:r>
            <a:endParaRPr lang="zh-CN" altLang="en-US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model = </a:t>
            </a: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sm.OLS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(y, X).fit()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查看模型结果，使用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summary</a:t>
            </a:r>
            <a:r>
              <a:rPr lang="zh-CN" altLang="en-US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方法来获得总结信息</a:t>
            </a:r>
            <a:endParaRPr lang="zh-CN" altLang="en-US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model.summary</a:t>
            </a:r>
            <a:r>
              <a:rPr lang="en-US" altLang="zh-CN" sz="2400" dirty="0">
                <a:solidFill>
                  <a:srgbClr val="06071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()</a:t>
            </a:r>
            <a:endParaRPr lang="en-US" altLang="zh-CN" sz="2400" dirty="0">
              <a:solidFill>
                <a:srgbClr val="06071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99511" y="1245279"/>
            <a:ext cx="5656529" cy="448797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当我们把显著区间设定为</a:t>
            </a: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0.05</a:t>
            </a: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时，以上结果的</a:t>
            </a: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值可以看出，模型认为以下因素对房屋价格没有显著性影响：卧室数、是否为简装房。此外，常数（表示线性方程的截距）的</a:t>
            </a: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值也很大，说明也没有显著影响。</a:t>
            </a:r>
            <a:endParaRPr lang="zh-CN" altLang="en-US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把这些变量移除后，再次建立线性回归模型。</a:t>
            </a:r>
            <a:endParaRPr lang="zh-CN" altLang="en-US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4152" y="736276"/>
            <a:ext cx="3671019" cy="557277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791585" y="260985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-1852" b="62620"/>
          <a:stretch>
            <a:fillRect/>
          </a:stretch>
        </p:blipFill>
        <p:spPr>
          <a:xfrm>
            <a:off x="839416" y="1124409"/>
            <a:ext cx="5256584" cy="27104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35919" r="1805" b="16915"/>
          <a:stretch>
            <a:fillRect/>
          </a:stretch>
        </p:blipFill>
        <p:spPr>
          <a:xfrm>
            <a:off x="6742683" y="1589513"/>
            <a:ext cx="4536504" cy="306151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82873" r="29919"/>
          <a:stretch>
            <a:fillRect/>
          </a:stretch>
        </p:blipFill>
        <p:spPr>
          <a:xfrm>
            <a:off x="912813" y="4149080"/>
            <a:ext cx="4838328" cy="166128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391762" y="4941168"/>
            <a:ext cx="39604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表格 最小二乘法得到的相关系数等信息</a:t>
            </a:r>
            <a:endParaRPr lang="zh-CN" altLang="en-US" sz="1600" dirty="0">
              <a:latin typeface="+mj-ea"/>
              <a:ea typeface="+mj-ea"/>
            </a:endParaRPr>
          </a:p>
          <a:p>
            <a:endParaRPr lang="zh-CN" altLang="en-US" sz="1600" dirty="0">
              <a:latin typeface="+mj-ea"/>
              <a:ea typeface="+mj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bldLvl="0" animBg="1"/>
      <p:bldP spid="5128" grpId="0" animBg="1"/>
      <p:bldP spid="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456728" y="839788"/>
            <a:ext cx="11953328" cy="570801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模块三：</a:t>
            </a:r>
            <a:r>
              <a:rPr lang="zh-CN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房价预测</a:t>
            </a:r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输入预测信息</a:t>
            </a: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/>
            <a:r>
              <a:rPr lang="en-US" altLang="zh-CN" sz="1400" i="1" dirty="0"/>
              <a:t># </a:t>
            </a:r>
            <a:r>
              <a:rPr lang="zh-CN" altLang="zh-CN" sz="1400" i="1" dirty="0"/>
              <a:t>要预测房价的房屋的信息：</a:t>
            </a:r>
            <a:endParaRPr lang="zh-CN" altLang="zh-CN" sz="1400" dirty="0"/>
          </a:p>
          <a:p>
            <a:pPr lvl="2"/>
            <a:r>
              <a:rPr lang="en-US" altLang="zh-CN" sz="1400" i="1" dirty="0"/>
              <a:t># </a:t>
            </a:r>
            <a:r>
              <a:rPr lang="zh-CN" altLang="zh-CN" sz="1400" i="1" dirty="0"/>
              <a:t>面积为</a:t>
            </a:r>
            <a:r>
              <a:rPr lang="en-US" altLang="zh-CN" sz="1400" i="1" dirty="0"/>
              <a:t>200</a:t>
            </a:r>
            <a:r>
              <a:rPr lang="zh-CN" altLang="zh-CN" sz="1400" i="1" dirty="0"/>
              <a:t>平方米，有</a:t>
            </a:r>
            <a:r>
              <a:rPr lang="en-US" altLang="zh-CN" sz="1400" i="1" dirty="0"/>
              <a:t>3</a:t>
            </a:r>
            <a:r>
              <a:rPr lang="zh-CN" altLang="zh-CN" sz="1400" i="1" dirty="0"/>
              <a:t>个卧室、</a:t>
            </a:r>
            <a:r>
              <a:rPr lang="en-US" altLang="zh-CN" sz="1400" i="1" dirty="0"/>
              <a:t>1</a:t>
            </a:r>
            <a:r>
              <a:rPr lang="zh-CN" altLang="zh-CN" sz="1400" i="1" dirty="0"/>
              <a:t>个厕所，总共</a:t>
            </a:r>
            <a:r>
              <a:rPr lang="en-US" altLang="zh-CN" sz="1400" i="1" dirty="0"/>
              <a:t>2</a:t>
            </a:r>
            <a:r>
              <a:rPr lang="zh-CN" altLang="zh-CN" sz="1400" i="1" dirty="0"/>
              <a:t>层，不位于主路，无客人房，带地下室，有热水器，有空调，车位数为</a:t>
            </a:r>
            <a:r>
              <a:rPr lang="en-US" altLang="zh-CN" sz="1400" i="1" dirty="0"/>
              <a:t>1</a:t>
            </a:r>
            <a:r>
              <a:rPr lang="zh-CN" altLang="zh-CN" sz="1400" i="1" dirty="0"/>
              <a:t>，不是城市首选社区，简装修</a:t>
            </a:r>
            <a:endParaRPr lang="zh-CN" altLang="zh-CN" sz="1400" dirty="0"/>
          </a:p>
          <a:p>
            <a:pPr lvl="2"/>
            <a:r>
              <a:rPr lang="en-US" altLang="zh-CN" sz="1400" dirty="0" err="1"/>
              <a:t>yuce</a:t>
            </a:r>
            <a:r>
              <a:rPr lang="en-US" altLang="zh-CN" sz="1400" dirty="0"/>
              <a:t> </a:t>
            </a:r>
            <a:r>
              <a:rPr lang="en-US" altLang="zh-CN" sz="1400" b="1" dirty="0"/>
              <a:t>=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pd</a:t>
            </a:r>
            <a:r>
              <a:rPr lang="en-US" altLang="zh-CN" sz="1400" b="1" dirty="0" err="1"/>
              <a:t>.</a:t>
            </a:r>
            <a:r>
              <a:rPr lang="en-US" altLang="zh-CN" sz="1400" dirty="0" err="1"/>
              <a:t>DataFrame</a:t>
            </a:r>
            <a:r>
              <a:rPr lang="en-US" altLang="zh-CN" sz="1400" dirty="0"/>
              <a:t>({'area': [200], '</a:t>
            </a:r>
            <a:r>
              <a:rPr lang="zh-CN" altLang="zh-CN" sz="1400" dirty="0"/>
              <a:t>卧室数量</a:t>
            </a:r>
            <a:r>
              <a:rPr lang="en-US" altLang="zh-CN" sz="1400" dirty="0"/>
              <a:t>': [3], '</a:t>
            </a:r>
            <a:r>
              <a:rPr lang="zh-CN" altLang="zh-CN" sz="1400" dirty="0"/>
              <a:t>浴室数量</a:t>
            </a:r>
            <a:r>
              <a:rPr lang="en-US" altLang="zh-CN" sz="1400" dirty="0"/>
              <a:t>': [1],                      '</a:t>
            </a:r>
            <a:r>
              <a:rPr lang="zh-CN" altLang="zh-CN" sz="1400" dirty="0"/>
              <a:t>楼层数</a:t>
            </a:r>
            <a:r>
              <a:rPr lang="en-US" altLang="zh-CN" sz="1400" dirty="0"/>
              <a:t>': [2], '</a:t>
            </a:r>
            <a:r>
              <a:rPr lang="zh-CN" altLang="zh-CN" sz="1400" dirty="0"/>
              <a:t>是否位于主干道</a:t>
            </a:r>
            <a:r>
              <a:rPr lang="en-US" altLang="zh-CN" sz="1400" dirty="0"/>
              <a:t>': ['no'], '</a:t>
            </a:r>
            <a:r>
              <a:rPr lang="zh-CN" altLang="zh-CN" sz="1400" dirty="0"/>
              <a:t>有无客房</a:t>
            </a:r>
            <a:r>
              <a:rPr lang="en-US" altLang="zh-CN" sz="1400" dirty="0"/>
              <a:t>': ['no'],                                 '</a:t>
            </a:r>
            <a:r>
              <a:rPr lang="zh-CN" altLang="zh-CN" sz="1400" dirty="0"/>
              <a:t>有无地下室</a:t>
            </a:r>
            <a:r>
              <a:rPr lang="en-US" altLang="zh-CN" sz="1400" dirty="0"/>
              <a:t>': ['yes'], '</a:t>
            </a:r>
            <a:r>
              <a:rPr lang="zh-CN" altLang="zh-CN" sz="1400" dirty="0"/>
              <a:t>是否有热水器</a:t>
            </a:r>
            <a:r>
              <a:rPr lang="en-US" altLang="zh-CN" sz="1400" dirty="0"/>
              <a:t>': ['yes'], '</a:t>
            </a:r>
            <a:r>
              <a:rPr lang="zh-CN" altLang="zh-CN" sz="1400" dirty="0"/>
              <a:t>有无空调</a:t>
            </a:r>
            <a:r>
              <a:rPr lang="en-US" altLang="zh-CN" sz="1400" dirty="0"/>
              <a:t>': ['yes'], '</a:t>
            </a:r>
            <a:r>
              <a:rPr lang="zh-CN" altLang="zh-CN" sz="1400" dirty="0"/>
              <a:t>车库数量</a:t>
            </a:r>
            <a:r>
              <a:rPr lang="en-US" altLang="zh-CN" sz="1400" dirty="0"/>
              <a:t>': 1, '</a:t>
            </a:r>
            <a:r>
              <a:rPr lang="zh-CN" altLang="zh-CN" sz="1400" dirty="0"/>
              <a:t>是否为城市首选社区</a:t>
            </a:r>
            <a:r>
              <a:rPr lang="en-US" altLang="zh-CN" sz="1400" dirty="0"/>
              <a:t>': ['no'],'</a:t>
            </a:r>
            <a:r>
              <a:rPr lang="zh-CN" altLang="zh-CN" sz="1400" dirty="0"/>
              <a:t>装修状态</a:t>
            </a:r>
            <a:r>
              <a:rPr lang="en-US" altLang="zh-CN" sz="1400" dirty="0"/>
              <a:t>': ['</a:t>
            </a:r>
            <a:r>
              <a:rPr lang="zh-CN" altLang="zh-CN" sz="1400" dirty="0"/>
              <a:t>简装</a:t>
            </a:r>
            <a:r>
              <a:rPr lang="en-US" altLang="zh-CN" sz="1400" dirty="0"/>
              <a:t>']})</a:t>
            </a:r>
            <a:endParaRPr lang="zh-CN" altLang="zh-CN" sz="1400" dirty="0"/>
          </a:p>
          <a:p>
            <a:pPr lvl="2"/>
            <a:r>
              <a:rPr lang="en-US" altLang="zh-CN" sz="1400" dirty="0"/>
              <a:t>#</a:t>
            </a:r>
            <a:r>
              <a:rPr lang="zh-CN" altLang="zh-CN" sz="1400" dirty="0"/>
              <a:t>把分类变量的类型转换为</a:t>
            </a:r>
            <a:r>
              <a:rPr lang="en-US" altLang="zh-CN" sz="1400" dirty="0"/>
              <a:t>Category,</a:t>
            </a:r>
            <a:r>
              <a:rPr lang="zh-CN" altLang="zh-CN" sz="1400" dirty="0"/>
              <a:t>让程序知道所有可能的分类值</a:t>
            </a:r>
            <a:r>
              <a:rPr lang="en-US" altLang="zh-CN" sz="1400" dirty="0"/>
              <a:t>,</a:t>
            </a:r>
            <a:r>
              <a:rPr lang="zh-CN" altLang="zh-CN" sz="1400" dirty="0"/>
              <a:t>我们需要确保引入虚拟变量的时候，不会漏掉某个或某些分类</a:t>
            </a:r>
            <a:endParaRPr lang="zh-CN" altLang="zh-CN" sz="1400" dirty="0"/>
          </a:p>
          <a:p>
            <a:pPr lvl="2"/>
            <a:r>
              <a:rPr lang="en-US" altLang="zh-CN" sz="1400" dirty="0" err="1"/>
              <a:t>yuce</a:t>
            </a:r>
            <a:r>
              <a:rPr lang="en-US" altLang="zh-CN" sz="1400" dirty="0"/>
              <a:t>['</a:t>
            </a:r>
            <a:r>
              <a:rPr lang="zh-CN" altLang="zh-CN" sz="1400" dirty="0"/>
              <a:t>是否位于主干道</a:t>
            </a:r>
            <a:r>
              <a:rPr lang="en-US" altLang="zh-CN" sz="1400" dirty="0"/>
              <a:t>'] </a:t>
            </a:r>
            <a:r>
              <a:rPr lang="en-US" altLang="zh-CN" sz="1400" b="1" dirty="0"/>
              <a:t>=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pd</a:t>
            </a:r>
            <a:r>
              <a:rPr lang="en-US" altLang="zh-CN" sz="1400" b="1" dirty="0" err="1"/>
              <a:t>.</a:t>
            </a:r>
            <a:r>
              <a:rPr lang="en-US" altLang="zh-CN" sz="1400" dirty="0" err="1"/>
              <a:t>Categorical</a:t>
            </a:r>
            <a:r>
              <a:rPr lang="en-US" altLang="zh-CN" sz="1400" dirty="0"/>
              <a:t>(</a:t>
            </a:r>
            <a:r>
              <a:rPr lang="en-US" altLang="zh-CN" sz="1400" dirty="0" err="1"/>
              <a:t>yuce</a:t>
            </a:r>
            <a:r>
              <a:rPr lang="en-US" altLang="zh-CN" sz="1400" dirty="0"/>
              <a:t>['</a:t>
            </a:r>
            <a:r>
              <a:rPr lang="zh-CN" altLang="zh-CN" sz="1400" dirty="0"/>
              <a:t>是否位于主干道</a:t>
            </a:r>
            <a:r>
              <a:rPr lang="en-US" altLang="zh-CN" sz="1400" dirty="0"/>
              <a:t>'], categories</a:t>
            </a:r>
            <a:r>
              <a:rPr lang="en-US" altLang="zh-CN" sz="1400" b="1" dirty="0"/>
              <a:t>=</a:t>
            </a:r>
            <a:r>
              <a:rPr lang="en-US" altLang="zh-CN" sz="1400" dirty="0"/>
              <a:t>['no', 'yes'])</a:t>
            </a:r>
            <a:endParaRPr lang="zh-CN" altLang="zh-CN" sz="1400" dirty="0"/>
          </a:p>
          <a:p>
            <a:pPr lvl="2"/>
            <a:r>
              <a:rPr lang="en-US" altLang="zh-CN" sz="1400" dirty="0" err="1"/>
              <a:t>yuce</a:t>
            </a:r>
            <a:r>
              <a:rPr lang="en-US" altLang="zh-CN" sz="1400" dirty="0"/>
              <a:t>['</a:t>
            </a:r>
            <a:r>
              <a:rPr lang="zh-CN" altLang="zh-CN" sz="1400" dirty="0"/>
              <a:t>有无客房</a:t>
            </a:r>
            <a:r>
              <a:rPr lang="en-US" altLang="zh-CN" sz="1400" dirty="0"/>
              <a:t>'] </a:t>
            </a:r>
            <a:r>
              <a:rPr lang="en-US" altLang="zh-CN" sz="1400" b="1" dirty="0"/>
              <a:t>=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pd</a:t>
            </a:r>
            <a:r>
              <a:rPr lang="en-US" altLang="zh-CN" sz="1400" b="1" dirty="0" err="1"/>
              <a:t>.</a:t>
            </a:r>
            <a:r>
              <a:rPr lang="en-US" altLang="zh-CN" sz="1400" dirty="0" err="1"/>
              <a:t>Categorical</a:t>
            </a:r>
            <a:r>
              <a:rPr lang="en-US" altLang="zh-CN" sz="1400" dirty="0"/>
              <a:t>(</a:t>
            </a:r>
            <a:r>
              <a:rPr lang="en-US" altLang="zh-CN" sz="1400" dirty="0" err="1"/>
              <a:t>yuce</a:t>
            </a:r>
            <a:r>
              <a:rPr lang="en-US" altLang="zh-CN" sz="1400" dirty="0"/>
              <a:t>['</a:t>
            </a:r>
            <a:r>
              <a:rPr lang="zh-CN" altLang="zh-CN" sz="1400" dirty="0"/>
              <a:t>有无客房</a:t>
            </a:r>
            <a:r>
              <a:rPr lang="en-US" altLang="zh-CN" sz="1400" dirty="0"/>
              <a:t>'], categories</a:t>
            </a:r>
            <a:r>
              <a:rPr lang="en-US" altLang="zh-CN" sz="1400" b="1" dirty="0"/>
              <a:t>=</a:t>
            </a:r>
            <a:r>
              <a:rPr lang="en-US" altLang="zh-CN" sz="1400" dirty="0"/>
              <a:t>['no', 'yes'])</a:t>
            </a:r>
            <a:endParaRPr lang="zh-CN" altLang="zh-CN" sz="1400" dirty="0"/>
          </a:p>
          <a:p>
            <a:pPr lvl="2"/>
            <a:r>
              <a:rPr lang="en-US" altLang="zh-CN" sz="1400" dirty="0" err="1"/>
              <a:t>yuce</a:t>
            </a:r>
            <a:r>
              <a:rPr lang="en-US" altLang="zh-CN" sz="1400" dirty="0"/>
              <a:t>['</a:t>
            </a:r>
            <a:r>
              <a:rPr lang="zh-CN" altLang="zh-CN" sz="1400" dirty="0"/>
              <a:t>有无地下室</a:t>
            </a:r>
            <a:r>
              <a:rPr lang="en-US" altLang="zh-CN" sz="1400" dirty="0"/>
              <a:t>'] </a:t>
            </a:r>
            <a:r>
              <a:rPr lang="en-US" altLang="zh-CN" sz="1400" b="1" dirty="0"/>
              <a:t>=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pd</a:t>
            </a:r>
            <a:r>
              <a:rPr lang="en-US" altLang="zh-CN" sz="1400" b="1" dirty="0" err="1"/>
              <a:t>.</a:t>
            </a:r>
            <a:r>
              <a:rPr lang="en-US" altLang="zh-CN" sz="1400" dirty="0" err="1"/>
              <a:t>Categorical</a:t>
            </a:r>
            <a:r>
              <a:rPr lang="en-US" altLang="zh-CN" sz="1400" dirty="0"/>
              <a:t>(</a:t>
            </a:r>
            <a:r>
              <a:rPr lang="en-US" altLang="zh-CN" sz="1400" dirty="0" err="1"/>
              <a:t>yuce</a:t>
            </a:r>
            <a:r>
              <a:rPr lang="en-US" altLang="zh-CN" sz="1400" dirty="0"/>
              <a:t>['</a:t>
            </a:r>
            <a:r>
              <a:rPr lang="zh-CN" altLang="zh-CN" sz="1400" dirty="0"/>
              <a:t>有无地下室</a:t>
            </a:r>
            <a:r>
              <a:rPr lang="en-US" altLang="zh-CN" sz="1400" dirty="0"/>
              <a:t>'], categories</a:t>
            </a:r>
            <a:r>
              <a:rPr lang="en-US" altLang="zh-CN" sz="1400" b="1" dirty="0"/>
              <a:t>=</a:t>
            </a:r>
            <a:r>
              <a:rPr lang="en-US" altLang="zh-CN" sz="1400" dirty="0"/>
              <a:t>['no', 'yes'])</a:t>
            </a:r>
            <a:endParaRPr lang="zh-CN" altLang="zh-CN" sz="1400" dirty="0"/>
          </a:p>
          <a:p>
            <a:pPr lvl="2"/>
            <a:r>
              <a:rPr lang="en-US" altLang="zh-CN" sz="1400" dirty="0" err="1"/>
              <a:t>yuce</a:t>
            </a:r>
            <a:r>
              <a:rPr lang="en-US" altLang="zh-CN" sz="1400" dirty="0"/>
              <a:t>['</a:t>
            </a:r>
            <a:r>
              <a:rPr lang="zh-CN" altLang="zh-CN" sz="1400" dirty="0"/>
              <a:t>是否有热水器</a:t>
            </a:r>
            <a:r>
              <a:rPr lang="en-US" altLang="zh-CN" sz="1400" dirty="0"/>
              <a:t>'] </a:t>
            </a:r>
            <a:r>
              <a:rPr lang="en-US" altLang="zh-CN" sz="1400" b="1" dirty="0"/>
              <a:t>=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pd</a:t>
            </a:r>
            <a:r>
              <a:rPr lang="en-US" altLang="zh-CN" sz="1400" b="1" dirty="0" err="1"/>
              <a:t>.</a:t>
            </a:r>
            <a:r>
              <a:rPr lang="en-US" altLang="zh-CN" sz="1400" dirty="0" err="1"/>
              <a:t>Categorical</a:t>
            </a:r>
            <a:r>
              <a:rPr lang="en-US" altLang="zh-CN" sz="1400" dirty="0"/>
              <a:t>(</a:t>
            </a:r>
            <a:r>
              <a:rPr lang="en-US" altLang="zh-CN" sz="1400" dirty="0" err="1"/>
              <a:t>yuce</a:t>
            </a:r>
            <a:r>
              <a:rPr lang="en-US" altLang="zh-CN" sz="1400" dirty="0"/>
              <a:t>['</a:t>
            </a:r>
            <a:r>
              <a:rPr lang="zh-CN" altLang="zh-CN" sz="1400" dirty="0"/>
              <a:t>是否有热水器</a:t>
            </a:r>
            <a:r>
              <a:rPr lang="en-US" altLang="zh-CN" sz="1400" dirty="0"/>
              <a:t>'], categories</a:t>
            </a:r>
            <a:r>
              <a:rPr lang="en-US" altLang="zh-CN" sz="1400" b="1" dirty="0"/>
              <a:t>=</a:t>
            </a:r>
            <a:r>
              <a:rPr lang="en-US" altLang="zh-CN" sz="1400" dirty="0"/>
              <a:t>['no', 'yes'])</a:t>
            </a:r>
            <a:endParaRPr lang="zh-CN" altLang="zh-CN" sz="1400" dirty="0"/>
          </a:p>
          <a:p>
            <a:pPr lvl="2"/>
            <a:r>
              <a:rPr lang="en-US" altLang="zh-CN" sz="1400" dirty="0" err="1"/>
              <a:t>yuce</a:t>
            </a:r>
            <a:r>
              <a:rPr lang="en-US" altLang="zh-CN" sz="1400" dirty="0"/>
              <a:t>['</a:t>
            </a:r>
            <a:r>
              <a:rPr lang="zh-CN" altLang="zh-CN" sz="1400" dirty="0"/>
              <a:t>有无空调</a:t>
            </a:r>
            <a:r>
              <a:rPr lang="en-US" altLang="zh-CN" sz="1400" dirty="0"/>
              <a:t>'] </a:t>
            </a:r>
            <a:r>
              <a:rPr lang="en-US" altLang="zh-CN" sz="1400" b="1" dirty="0"/>
              <a:t>=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pd</a:t>
            </a:r>
            <a:r>
              <a:rPr lang="en-US" altLang="zh-CN" sz="1400" b="1" dirty="0" err="1"/>
              <a:t>.</a:t>
            </a:r>
            <a:r>
              <a:rPr lang="en-US" altLang="zh-CN" sz="1400" dirty="0" err="1"/>
              <a:t>Categorical</a:t>
            </a:r>
            <a:r>
              <a:rPr lang="en-US" altLang="zh-CN" sz="1400" dirty="0"/>
              <a:t>(</a:t>
            </a:r>
            <a:r>
              <a:rPr lang="en-US" altLang="zh-CN" sz="1400" dirty="0" err="1"/>
              <a:t>yuce</a:t>
            </a:r>
            <a:r>
              <a:rPr lang="en-US" altLang="zh-CN" sz="1400" dirty="0"/>
              <a:t>['</a:t>
            </a:r>
            <a:r>
              <a:rPr lang="zh-CN" altLang="zh-CN" sz="1400" dirty="0"/>
              <a:t>有无空调</a:t>
            </a:r>
            <a:r>
              <a:rPr lang="en-US" altLang="zh-CN" sz="1400" dirty="0"/>
              <a:t>'], categories</a:t>
            </a:r>
            <a:r>
              <a:rPr lang="en-US" altLang="zh-CN" sz="1400" b="1" dirty="0"/>
              <a:t>=</a:t>
            </a:r>
            <a:r>
              <a:rPr lang="en-US" altLang="zh-CN" sz="1400" dirty="0"/>
              <a:t>['no', 'yes'])</a:t>
            </a:r>
            <a:endParaRPr lang="zh-CN" altLang="zh-CN" sz="1400" dirty="0"/>
          </a:p>
          <a:p>
            <a:pPr lvl="2"/>
            <a:r>
              <a:rPr lang="en-US" altLang="zh-CN" sz="1400" dirty="0" err="1"/>
              <a:t>yuce</a:t>
            </a:r>
            <a:r>
              <a:rPr lang="en-US" altLang="zh-CN" sz="1400" dirty="0"/>
              <a:t>['</a:t>
            </a:r>
            <a:r>
              <a:rPr lang="zh-CN" altLang="zh-CN" sz="1400" dirty="0"/>
              <a:t>是否为城市首选社区</a:t>
            </a:r>
            <a:r>
              <a:rPr lang="en-US" altLang="zh-CN" sz="1400" dirty="0"/>
              <a:t>'] </a:t>
            </a:r>
            <a:r>
              <a:rPr lang="en-US" altLang="zh-CN" sz="1400" b="1" dirty="0"/>
              <a:t>=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pd</a:t>
            </a:r>
            <a:r>
              <a:rPr lang="en-US" altLang="zh-CN" sz="1400" b="1" dirty="0" err="1"/>
              <a:t>.</a:t>
            </a:r>
            <a:r>
              <a:rPr lang="en-US" altLang="zh-CN" sz="1400" dirty="0" err="1"/>
              <a:t>Categorical</a:t>
            </a:r>
            <a:r>
              <a:rPr lang="en-US" altLang="zh-CN" sz="1400" dirty="0"/>
              <a:t>(</a:t>
            </a:r>
            <a:r>
              <a:rPr lang="en-US" altLang="zh-CN" sz="1400" dirty="0" err="1"/>
              <a:t>yuce</a:t>
            </a:r>
            <a:r>
              <a:rPr lang="en-US" altLang="zh-CN" sz="1400" dirty="0"/>
              <a:t>['</a:t>
            </a:r>
            <a:r>
              <a:rPr lang="zh-CN" altLang="zh-CN" sz="1400" dirty="0"/>
              <a:t>是否为城市首选社区</a:t>
            </a:r>
            <a:r>
              <a:rPr lang="en-US" altLang="zh-CN" sz="1400" dirty="0"/>
              <a:t>'], categories</a:t>
            </a:r>
            <a:r>
              <a:rPr lang="en-US" altLang="zh-CN" sz="1400" b="1" dirty="0"/>
              <a:t>=</a:t>
            </a:r>
            <a:r>
              <a:rPr lang="en-US" altLang="zh-CN" sz="1400" dirty="0"/>
              <a:t>['no', 'yes'])</a:t>
            </a:r>
            <a:endParaRPr lang="zh-CN" altLang="zh-CN" sz="1400" dirty="0"/>
          </a:p>
          <a:p>
            <a:pPr lvl="2"/>
            <a:r>
              <a:rPr lang="en-US" altLang="zh-CN" sz="1400" dirty="0" err="1"/>
              <a:t>yuce</a:t>
            </a:r>
            <a:r>
              <a:rPr lang="en-US" altLang="zh-CN" sz="1400" dirty="0"/>
              <a:t>['</a:t>
            </a:r>
            <a:r>
              <a:rPr lang="zh-CN" altLang="zh-CN" sz="1400" dirty="0"/>
              <a:t>装修状态</a:t>
            </a:r>
            <a:r>
              <a:rPr lang="en-US" altLang="zh-CN" sz="1400" dirty="0"/>
              <a:t>'] </a:t>
            </a:r>
            <a:r>
              <a:rPr lang="en-US" altLang="zh-CN" sz="1400" b="1" dirty="0"/>
              <a:t>=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pd</a:t>
            </a:r>
            <a:r>
              <a:rPr lang="en-US" altLang="zh-CN" sz="1400" b="1" dirty="0" err="1"/>
              <a:t>.</a:t>
            </a:r>
            <a:r>
              <a:rPr lang="en-US" altLang="zh-CN" sz="1400" dirty="0" err="1"/>
              <a:t>Categorical</a:t>
            </a:r>
            <a:r>
              <a:rPr lang="en-US" altLang="zh-CN" sz="1400" dirty="0"/>
              <a:t>(</a:t>
            </a:r>
            <a:r>
              <a:rPr lang="en-US" altLang="zh-CN" sz="1400" dirty="0" err="1"/>
              <a:t>yuce</a:t>
            </a:r>
            <a:r>
              <a:rPr lang="en-US" altLang="zh-CN" sz="1400" dirty="0"/>
              <a:t>['</a:t>
            </a:r>
            <a:r>
              <a:rPr lang="zh-CN" altLang="zh-CN" sz="1400" dirty="0"/>
              <a:t>装修状态</a:t>
            </a:r>
            <a:r>
              <a:rPr lang="en-US" altLang="zh-CN" sz="1400" dirty="0"/>
              <a:t>'], categories</a:t>
            </a:r>
            <a:r>
              <a:rPr lang="en-US" altLang="zh-CN" sz="1400" b="1" dirty="0"/>
              <a:t>=</a:t>
            </a:r>
            <a:r>
              <a:rPr lang="en-US" altLang="zh-CN" sz="1400" dirty="0"/>
              <a:t>['</a:t>
            </a:r>
            <a:r>
              <a:rPr lang="zh-CN" altLang="zh-CN" sz="1400" dirty="0"/>
              <a:t>精装</a:t>
            </a:r>
            <a:r>
              <a:rPr lang="en-US" altLang="zh-CN" sz="1400" dirty="0"/>
              <a:t>', '</a:t>
            </a:r>
            <a:r>
              <a:rPr lang="zh-CN" altLang="zh-CN" sz="1400" dirty="0"/>
              <a:t>简装</a:t>
            </a:r>
            <a:r>
              <a:rPr lang="en-US" altLang="zh-CN" sz="1400" dirty="0"/>
              <a:t>', '</a:t>
            </a:r>
            <a:r>
              <a:rPr lang="zh-CN" altLang="zh-CN" sz="1400" dirty="0"/>
              <a:t>毛坯</a:t>
            </a:r>
            <a:r>
              <a:rPr lang="en-US" altLang="zh-CN" sz="1400" dirty="0"/>
              <a:t>'])</a:t>
            </a:r>
            <a:endParaRPr lang="zh-CN" altLang="zh-CN" sz="1400" dirty="0"/>
          </a:p>
          <a:p>
            <a:pPr lvl="2"/>
            <a:r>
              <a:rPr lang="en-US" altLang="zh-CN" sz="1400" dirty="0" err="1"/>
              <a:t>yuce</a:t>
            </a:r>
            <a:r>
              <a:rPr lang="en-US" altLang="zh-CN" sz="1400" dirty="0"/>
              <a:t> </a:t>
            </a:r>
            <a:r>
              <a:rPr lang="en-US" altLang="zh-CN" sz="1400" b="1" dirty="0"/>
              <a:t>=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pd</a:t>
            </a:r>
            <a:r>
              <a:rPr lang="en-US" altLang="zh-CN" sz="1400" b="1" dirty="0" err="1"/>
              <a:t>.</a:t>
            </a:r>
            <a:r>
              <a:rPr lang="en-US" altLang="zh-CN" sz="1400" dirty="0" err="1"/>
              <a:t>get_dummies</a:t>
            </a:r>
            <a:r>
              <a:rPr lang="en-US" altLang="zh-CN" sz="1400" dirty="0"/>
              <a:t>(</a:t>
            </a:r>
            <a:r>
              <a:rPr lang="en-US" altLang="zh-CN" sz="1400" dirty="0" err="1"/>
              <a:t>yuce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drop_first</a:t>
            </a:r>
            <a:r>
              <a:rPr lang="en-US" altLang="zh-CN" sz="1400" b="1" dirty="0"/>
              <a:t>=True</a:t>
            </a:r>
            <a:r>
              <a:rPr lang="en-US" altLang="zh-CN" sz="1400" dirty="0"/>
              <a:t>,  columns</a:t>
            </a:r>
            <a:r>
              <a:rPr lang="en-US" altLang="zh-CN" sz="1400" b="1" dirty="0"/>
              <a:t>=</a:t>
            </a:r>
            <a:r>
              <a:rPr lang="en-US" altLang="zh-CN" sz="1400" dirty="0"/>
              <a:t>['</a:t>
            </a:r>
            <a:r>
              <a:rPr lang="zh-CN" altLang="zh-CN" sz="1400" dirty="0"/>
              <a:t>是否位于主干道</a:t>
            </a:r>
            <a:r>
              <a:rPr lang="en-US" altLang="zh-CN" sz="1400" dirty="0"/>
              <a:t>', '</a:t>
            </a:r>
            <a:r>
              <a:rPr lang="zh-CN" altLang="zh-CN" sz="1400" dirty="0"/>
              <a:t>有无客房</a:t>
            </a:r>
            <a:r>
              <a:rPr lang="en-US" altLang="zh-CN" sz="1400" dirty="0"/>
              <a:t>', </a:t>
            </a:r>
            <a:r>
              <a:rPr lang="zh-CN" altLang="zh-CN" sz="1400" dirty="0"/>
              <a:t>有无地下室</a:t>
            </a:r>
            <a:r>
              <a:rPr lang="en-US" altLang="zh-CN" sz="1400" dirty="0"/>
              <a:t>', '</a:t>
            </a:r>
            <a:r>
              <a:rPr lang="zh-CN" altLang="zh-CN" sz="1400" dirty="0"/>
              <a:t>是否有热水器</a:t>
            </a:r>
            <a:r>
              <a:rPr lang="en-US" altLang="zh-CN" sz="1400" dirty="0"/>
              <a:t>','</a:t>
            </a:r>
            <a:r>
              <a:rPr lang="zh-CN" altLang="zh-CN" sz="1400" dirty="0"/>
              <a:t>有无空调</a:t>
            </a:r>
            <a:r>
              <a:rPr lang="en-US" altLang="zh-CN" sz="1400" dirty="0"/>
              <a:t>','</a:t>
            </a:r>
            <a:r>
              <a:rPr lang="zh-CN" altLang="zh-CN" sz="1400" dirty="0"/>
              <a:t>是否为城市首选社区</a:t>
            </a:r>
            <a:r>
              <a:rPr lang="en-US" altLang="zh-CN" sz="1400" dirty="0"/>
              <a:t>', '</a:t>
            </a:r>
            <a:r>
              <a:rPr lang="zh-CN" altLang="zh-CN" sz="1400" dirty="0"/>
              <a:t>装修状态</a:t>
            </a:r>
            <a:r>
              <a:rPr lang="en-US" altLang="zh-CN" sz="1400" dirty="0"/>
              <a:t>'], </a:t>
            </a:r>
            <a:r>
              <a:rPr lang="en-US" altLang="zh-CN" sz="1400" dirty="0" err="1"/>
              <a:t>dtype</a:t>
            </a:r>
            <a:r>
              <a:rPr lang="en-US" altLang="zh-CN" sz="1400" b="1" dirty="0"/>
              <a:t>=</a:t>
            </a:r>
            <a:r>
              <a:rPr lang="en-US" altLang="zh-CN" sz="1400" dirty="0"/>
              <a:t>int)</a:t>
            </a:r>
            <a:endParaRPr lang="zh-CN" altLang="zh-CN" sz="1400" dirty="0"/>
          </a:p>
          <a:p>
            <a:pPr lvl="2"/>
            <a:r>
              <a:rPr lang="en-US" altLang="zh-CN" sz="1400" dirty="0" err="1"/>
              <a:t>yuce</a:t>
            </a:r>
            <a:r>
              <a:rPr lang="en-US" altLang="zh-CN" sz="1400" b="1" dirty="0" err="1"/>
              <a:t>.</a:t>
            </a:r>
            <a:r>
              <a:rPr lang="en-US" altLang="zh-CN" sz="1400" dirty="0" err="1"/>
              <a:t>head</a:t>
            </a:r>
            <a:r>
              <a:rPr lang="en-US" altLang="zh-CN" sz="1400" dirty="0"/>
              <a:t>()</a:t>
            </a:r>
            <a:endParaRPr lang="zh-CN" altLang="zh-CN" sz="1400" dirty="0"/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360" y="5517232"/>
            <a:ext cx="11377264" cy="5903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00650" y="6123927"/>
            <a:ext cx="3024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表格</a:t>
            </a:r>
            <a:r>
              <a:rPr lang="en-US" altLang="zh-CN" sz="1600" dirty="0">
                <a:latin typeface="+mj-ea"/>
                <a:ea typeface="+mj-ea"/>
              </a:rPr>
              <a:t> </a:t>
            </a:r>
            <a:r>
              <a:rPr lang="zh-CN" altLang="en-US" sz="1600" dirty="0">
                <a:latin typeface="+mj-ea"/>
                <a:ea typeface="+mj-ea"/>
              </a:rPr>
              <a:t>预测房屋的信息</a:t>
            </a:r>
            <a:endParaRPr lang="zh-CN" altLang="en-US" sz="1600" dirty="0">
              <a:latin typeface="+mj-ea"/>
              <a:ea typeface="+mj-ea"/>
            </a:endParaRPr>
          </a:p>
          <a:p>
            <a:endParaRPr lang="zh-CN" altLang="en-US" sz="1600" dirty="0">
              <a:latin typeface="+mj-ea"/>
              <a:ea typeface="+mj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2" grpId="0"/>
      <p:bldP spid="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程序实现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456728" y="908905"/>
            <a:ext cx="11953328" cy="600741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模块三：</a:t>
            </a:r>
            <a:r>
              <a:rPr lang="zh-CN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房价预测</a:t>
            </a:r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预测房价</a:t>
            </a: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调用线性回归模型的</a:t>
            </a: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predict</a:t>
            </a:r>
            <a:r>
              <a:rPr lang="zh-CN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方法，获得预测价格</a:t>
            </a:r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输入：</a:t>
            </a: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yuce</a:t>
            </a: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</a:t>
            </a:r>
            <a:r>
              <a:rPr lang="en-US" altLang="zh-CN" sz="2400" dirty="0" err="1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yuce.drop</a:t>
            </a: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(['</a:t>
            </a:r>
            <a:r>
              <a:rPr lang="zh-CN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卧室数量</a:t>
            </a: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', '</a:t>
            </a:r>
            <a:r>
              <a:rPr lang="zh-CN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装修状态</a:t>
            </a: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zh-CN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简装</a:t>
            </a: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'], axis=1)</a:t>
            </a:r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predicted_value</a:t>
            </a: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</a:t>
            </a:r>
            <a:r>
              <a:rPr lang="en-US" altLang="zh-CN" sz="2400" dirty="0" err="1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model.predict</a:t>
            </a: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400" dirty="0" err="1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yuce</a:t>
            </a: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predicted_value</a:t>
            </a:r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输出：</a:t>
            </a:r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5.019251e+06</a:t>
            </a:r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 err="1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dtype</a:t>
            </a:r>
            <a:r>
              <a:rPr lang="en-US" altLang="zh-CN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float64</a:t>
            </a:r>
            <a:endParaRPr lang="zh-CN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矩形 1"/>
          <p:cNvSpPr/>
          <p:nvPr/>
        </p:nvSpPr>
        <p:spPr>
          <a:xfrm>
            <a:off x="0" y="2014538"/>
            <a:ext cx="12192000" cy="28495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267" name="矩形 2"/>
          <p:cNvSpPr/>
          <p:nvPr/>
        </p:nvSpPr>
        <p:spPr>
          <a:xfrm>
            <a:off x="0" y="2663825"/>
            <a:ext cx="1096963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268" name="文本框 3"/>
          <p:cNvSpPr/>
          <p:nvPr/>
        </p:nvSpPr>
        <p:spPr>
          <a:xfrm>
            <a:off x="946150" y="2000250"/>
            <a:ext cx="1539875" cy="186213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lvl1pPr marL="228600" indent="-228600" algn="l" defTabSz="9144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4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500">
                <a:solidFill>
                  <a:schemeClr val="bg1"/>
                </a:solidFill>
                <a:latin typeface="Impact" panose="020B0806030902050204" pitchFamily="34" charset="0"/>
              </a:rPr>
              <a:t>4</a:t>
            </a:r>
            <a:endParaRPr lang="zh-CN" altLang="en-US" sz="115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1269" name="文本框 4"/>
          <p:cNvSpPr/>
          <p:nvPr/>
        </p:nvSpPr>
        <p:spPr>
          <a:xfrm>
            <a:off x="419100" y="2638425"/>
            <a:ext cx="571500" cy="5857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lvl1pPr marL="228600" indent="-228600" algn="l" defTabSz="9144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4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endParaRPr lang="zh-CN" altLang="en-US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0" name="矩形 5"/>
          <p:cNvSpPr/>
          <p:nvPr/>
        </p:nvSpPr>
        <p:spPr>
          <a:xfrm>
            <a:off x="2498725" y="2663825"/>
            <a:ext cx="9693275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271" name="文本框 6"/>
          <p:cNvSpPr/>
          <p:nvPr/>
        </p:nvSpPr>
        <p:spPr>
          <a:xfrm>
            <a:off x="2525713" y="2638425"/>
            <a:ext cx="1766887" cy="5857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lvl1pPr marL="228600" indent="-228600" algn="l" defTabSz="9144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4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2" name="文本框 7"/>
          <p:cNvSpPr/>
          <p:nvPr/>
        </p:nvSpPr>
        <p:spPr>
          <a:xfrm>
            <a:off x="6791325" y="3632200"/>
            <a:ext cx="5727700" cy="83099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lvl1pPr marL="228600" indent="-228600" algn="l" defTabSz="9144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4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项目小结</a:t>
            </a:r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nimBg="1"/>
      <p:bldP spid="11267" grpId="0" animBg="1"/>
      <p:bldP spid="11268" grpId="0"/>
      <p:bldP spid="11269" grpId="0"/>
      <p:bldP spid="11270" grpId="0" animBg="1"/>
      <p:bldP spid="11271" grpId="0"/>
      <p:bldP spid="1127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项目小结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</a:t>
              </a:r>
              <a:r>
                <a:rPr lang="en-US" altLang="zh-CN" sz="3200" dirty="0">
                  <a:solidFill>
                    <a:srgbClr val="3B3838"/>
                  </a:solidFill>
                  <a:latin typeface="Impact" panose="020B0806030902050204" pitchFamily="34" charset="0"/>
                </a:rPr>
                <a:t>4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3352" y="980728"/>
            <a:ext cx="11377264" cy="452310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6071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项目背景与目标：基于线性回归的房价预测模型”</a:t>
            </a:r>
            <a:endParaRPr lang="en-US" altLang="zh-CN" sz="2400" dirty="0">
              <a:solidFill>
                <a:srgbClr val="06071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数据预处理：“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545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条交易记录的精细化清洗与特征工程”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数据分析与可视化：关键特征挖掘，“用图表说话：房价影响因素的‘可视化解码’”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模型构建与优化：从“全量”到“精准”，“特征筛选：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R²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从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0.682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0.957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的飞跃”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模型验证与应用：从“数据”到“现实”，“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5,019,251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元：模型预测与市场实测的高度匹配”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项目小结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</a:t>
              </a:r>
              <a:r>
                <a:rPr lang="en-US" altLang="zh-CN" sz="3200" dirty="0">
                  <a:solidFill>
                    <a:srgbClr val="3B3838"/>
                  </a:solidFill>
                  <a:latin typeface="Impact" panose="020B0806030902050204" pitchFamily="34" charset="0"/>
                </a:rPr>
                <a:t>4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68910" y="1124585"/>
            <a:ext cx="12176760" cy="5476875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存在的问题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过早将表格进行中英文切换，导致后续写代码时频繁切换中英文输入比较麻烦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数据集的数据量较少，模型精确程度并不高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数据清洗时仅仅查看了部分数据并不能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100%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保证数据一定整齐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简单问题复杂化，多走了几步无用路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分析干净度时，可以直接使用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describe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info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一步到位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可视化相关性查看与后续内容重复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共线性问题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6.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进行最小二乘法拟合时精度不高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5" grpId="0" animBg="1"/>
      <p:bldP spid="5128" grpId="0" animBg="1"/>
      <p:bldP spid="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项目小结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</a:t>
              </a:r>
              <a:r>
                <a:rPr lang="en-US" altLang="zh-CN" sz="3200" dirty="0">
                  <a:solidFill>
                    <a:srgbClr val="3B3838"/>
                  </a:solidFill>
                  <a:latin typeface="Impact" panose="020B0806030902050204" pitchFamily="34" charset="0"/>
                </a:rPr>
                <a:t>4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68910" y="1124585"/>
            <a:ext cx="12176760" cy="433832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lvl="2">
              <a:lnSpc>
                <a:spcPct val="150000"/>
              </a:lnSpc>
              <a:buFont typeface="Wingdings" panose="05000000000000000000" pitchFamily="2" charset="2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参考文献：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[1] Python-pandas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库学习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. https://www.cnblogs.com/yeyuzhuanjia/p/18762234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[2] Python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库（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Matplotlib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. https://blog.csdn.net/2302_77326347/article/details/146686962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[3] Seaborn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可视化库详解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. https://blog.csdn.net/Stromboli/article/details/144526744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[4]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一元线性回归预测房价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. https://blog.51cto.com/u_16213599/11626914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[5]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李航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机器学习方法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[M].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北京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清华大学出版社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,2022.03.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[6]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范益政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概率论与数理统计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科学出版社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.2021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</a:pP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ldLvl="0" animBg="1"/>
      <p:bldP spid="5125" grpId="0" bldLvl="0" animBg="1"/>
      <p:bldP spid="5128" grpId="0" bldLvl="0" animBg="1"/>
      <p:bldP spid="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5" name="矩形 2"/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5126" name="组合 3"/>
          <p:cNvGrpSpPr/>
          <p:nvPr/>
        </p:nvGrpSpPr>
        <p:grpSpPr>
          <a:xfrm>
            <a:off x="550863" y="82550"/>
            <a:ext cx="3541712" cy="585788"/>
            <a:chOff x="551544" y="82976"/>
            <a:chExt cx="3540396" cy="584775"/>
          </a:xfrm>
        </p:grpSpPr>
        <p:sp>
          <p:nvSpPr>
            <p:cNvPr id="5146" name="文本框 4"/>
            <p:cNvSpPr/>
            <p:nvPr/>
          </p:nvSpPr>
          <p:spPr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lvl1pPr marL="228600" indent="-228600" algn="l" defTabSz="914400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4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20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 kumimoji="0" lang="zh-CN" altLang="en-US" sz="1800" b="0" i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zh-CN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项目小结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47" name="文本框 5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 algn="ctr" eaLnBrk="1" hangingPunct="1"/>
              <a:r>
                <a:rPr lang="en-US" altLang="zh-CN" sz="3200" spc="0" dirty="0">
                  <a:solidFill>
                    <a:srgbClr val="3B3838"/>
                  </a:solidFill>
                  <a:latin typeface="Impact" panose="020B0806030902050204" pitchFamily="34" charset="0"/>
                </a:rPr>
                <a:t>0</a:t>
              </a:r>
              <a:r>
                <a:rPr lang="en-US" altLang="zh-CN" sz="3200" dirty="0">
                  <a:solidFill>
                    <a:srgbClr val="3B3838"/>
                  </a:solidFill>
                  <a:latin typeface="Impact" panose="020B0806030902050204" pitchFamily="34" charset="0"/>
                </a:rPr>
                <a:t>4</a:t>
              </a:r>
              <a:endParaRPr lang="zh-CN" altLang="en-US" sz="3200" dirty="0">
                <a:solidFill>
                  <a:srgbClr val="3B3838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128" name="矩形 7"/>
          <p:cNvSpPr/>
          <p:nvPr/>
        </p:nvSpPr>
        <p:spPr>
          <a:xfrm>
            <a:off x="0" y="6553201"/>
            <a:ext cx="12288688" cy="30480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68910" y="1124585"/>
            <a:ext cx="12176760" cy="249174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lvl="2">
              <a:lnSpc>
                <a:spcPct val="150000"/>
              </a:lnSpc>
              <a:buFont typeface="Wingdings" panose="05000000000000000000" pitchFamily="2" charset="2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小组分工：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刘昊辰：整体逻辑设计与线性回归模块代码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张嘉诚：数据评估、清洗、分析模块代码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罗天屹：数据的可视化分析模块代码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丁梓翔：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PPT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设计制作与设计报告撰写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ldLvl="0" animBg="1"/>
      <p:bldP spid="5125" grpId="0" bldLvl="0" animBg="1"/>
      <p:bldP spid="5128" grpId="0" bldLvl="0" animBg="1"/>
      <p:bldP spid="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3" name="矩形 41"/>
          <p:cNvSpPr/>
          <p:nvPr/>
        </p:nvSpPr>
        <p:spPr>
          <a:xfrm>
            <a:off x="0" y="-12700"/>
            <a:ext cx="12192000" cy="373063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4" name="矩形 42"/>
          <p:cNvSpPr/>
          <p:nvPr/>
        </p:nvSpPr>
        <p:spPr>
          <a:xfrm>
            <a:off x="11566525" y="6523038"/>
            <a:ext cx="625475" cy="3349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5" name="矩形 43"/>
          <p:cNvSpPr/>
          <p:nvPr/>
        </p:nvSpPr>
        <p:spPr>
          <a:xfrm>
            <a:off x="0" y="6523038"/>
            <a:ext cx="11928648" cy="3349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9467" name="文本框 45"/>
          <p:cNvPicPr/>
          <p:nvPr/>
        </p:nvPicPr>
        <p:blipFill>
          <a:blip r:embed="rId1"/>
          <a:stretch>
            <a:fillRect/>
          </a:stretch>
        </p:blipFill>
        <p:spPr>
          <a:xfrm>
            <a:off x="3097213" y="1908175"/>
            <a:ext cx="5967412" cy="74930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sp>
        <p:nvSpPr>
          <p:cNvPr id="19458" name="文本框 24"/>
          <p:cNvSpPr txBox="1"/>
          <p:nvPr/>
        </p:nvSpPr>
        <p:spPr>
          <a:xfrm>
            <a:off x="2010569" y="2526308"/>
            <a:ext cx="8170862" cy="1107996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eaLnBrk="1" hangingPunct="1"/>
            <a:r>
              <a:rPr lang="zh-CN" altLang="en-US" sz="6600" b="1" spc="6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感谢观看</a:t>
            </a:r>
            <a:endParaRPr lang="zh-CN" altLang="en-US" sz="6600" b="1" dirty="0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3" grpId="0" animBg="1"/>
      <p:bldP spid="19464" grpId="0" animBg="1"/>
      <p:bldP spid="19465" grpId="0" animBg="1"/>
      <p:bldP spid="19458" grpId="0"/>
    </p:bldLst>
  </p:timing>
</p:sld>
</file>

<file path=ppt/tags/tag1.xml><?xml version="1.0" encoding="utf-8"?>
<p:tagLst xmlns:p="http://schemas.openxmlformats.org/presentationml/2006/main">
  <p:tag name="AS_NET" val="4.0.30319.42000"/>
  <p:tag name="AS_OS" val="Microsoft Windows NT 6.2.9200.0"/>
  <p:tag name="AS_RELEASE_DATE" val="2021.06.14"/>
  <p:tag name="AS_TITLE" val="Aspose.Slides for .NET 4.0 Client Profile"/>
  <p:tag name="AS_VERSION" val="21.6"/>
</p:tagLst>
</file>

<file path=ppt/theme/theme1.xml><?xml version="1.0" encoding="utf-8"?>
<a:theme xmlns:a="http://schemas.openxmlformats.org/drawingml/2006/main" name="PPTe吧 | PPT爱好者之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10746</Words>
  <Application>WPS 演示</Application>
  <PresentationFormat>宽屏</PresentationFormat>
  <Paragraphs>849</Paragraphs>
  <Slides>58</Slides>
  <Notes>43</Notes>
  <HiddenSlides>3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2" baseType="lpstr">
      <vt:lpstr>Arial</vt:lpstr>
      <vt:lpstr>宋体</vt:lpstr>
      <vt:lpstr>Wingdings</vt:lpstr>
      <vt:lpstr>Calibri</vt:lpstr>
      <vt:lpstr>Calibri Light</vt:lpstr>
      <vt:lpstr>微软雅黑</vt:lpstr>
      <vt:lpstr>Impact</vt:lpstr>
      <vt:lpstr>黑体</vt:lpstr>
      <vt:lpstr>Arial Unicode MS</vt:lpstr>
      <vt:lpstr>等线</vt:lpstr>
      <vt:lpstr>华文中宋</vt:lpstr>
      <vt:lpstr>Wingdings</vt:lpstr>
      <vt:lpstr>Times New Roman</vt:lpstr>
      <vt:lpstr>PPTe吧 | PPT爱好者之家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Kakine Teitoku[Dark Matter]</cp:lastModifiedBy>
  <cp:revision>10</cp:revision>
  <dcterms:created xsi:type="dcterms:W3CDTF">2015-04-13T12:15:00Z</dcterms:created>
  <dcterms:modified xsi:type="dcterms:W3CDTF">2025-05-09T06:25:06Z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EE0AF90AB26E43DF9BC666F2AFA1722A_12</vt:lpwstr>
  </property>
  <property fmtid="{D5CDD505-2E9C-101B-9397-08002B2CF9AE}" pid="3" name="KSOProductBuildVer">
    <vt:lpwstr>2052-12.1.0.20784</vt:lpwstr>
  </property>
</Properties>
</file>